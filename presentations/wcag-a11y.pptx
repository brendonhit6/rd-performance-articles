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6" r:id="rId27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home pages affected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Low-contrast text</c:v>
                  </c:pt>
                  <c:pt idx="1">
                    <c:v>Missing image alt text</c:v>
                  </c:pt>
                  <c:pt idx="2">
                    <c:v>Missing form labels</c:v>
                  </c:pt>
                  <c:pt idx="3">
                    <c:v>Empty links</c:v>
                  </c:pt>
                  <c:pt idx="4">
                    <c:v>Empty buttons</c:v>
                  </c:pt>
                  <c:pt idx="5">
                    <c:v>Missing doc language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79</c:v>
                </c:pt>
                <c:pt idx="1">
                  <c:v>55</c:v>
                </c:pt>
                <c:pt idx="2">
                  <c:v>48</c:v>
                </c:pt>
                <c:pt idx="3">
                  <c:v>45</c:v>
                </c:pt>
                <c:pt idx="4">
                  <c:v>28</c:v>
                </c:pt>
                <c:pt idx="5">
                  <c:v>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image" Target="../media/image-1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5E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463040"/>
            <a:ext cx="4206240" cy="4206240"/>
          </a:xfrm>
          <a:prstGeom prst="ellipse">
            <a:avLst/>
          </a:prstGeom>
          <a:solidFill>
            <a:srgbClr val="0F766E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3474720"/>
            <a:ext cx="3291840" cy="3291840"/>
          </a:xfrm>
          <a:prstGeom prst="ellipse">
            <a:avLst/>
          </a:prstGeom>
          <a:solidFill>
            <a:srgbClr val="0F766E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77240"/>
            <a:ext cx="822960" cy="82296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9747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828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Accessibility (a11y)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548640" y="2697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 of accessible web interfaces based on the international WCAG standard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Content Accessibility Guidelines  ·  W3C / WAI  ·  Tech talk for the dev team  ·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Accessibility?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a11y = “accessibility”: a + 11 letters + 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means people with disabilities can perceive, understand, navigate and interact with the web.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a feature or a final QA step — it is a quality attribute of the product, like performance or security.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3794760"/>
            <a:ext cx="4206240" cy="91440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388620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 billion people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worldwide live with some form of disability — roughly 16% of the population.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983480" y="1325880"/>
            <a:ext cx="3703320" cy="777240"/>
          </a:xfrm>
          <a:prstGeom prst="roundRect">
            <a:avLst>
              <a:gd name="adj" fmla="val 8235"/>
            </a:avLst>
          </a:prstGeom>
          <a:solidFill>
            <a:srgbClr val="F0FDFA"/>
          </a:solidFill>
          <a:ln w="9525">
            <a:solidFill>
              <a:srgbClr val="D6E5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38928" y="148132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48656" y="1591056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715000" y="141732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715000" y="1709928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blindness, low vision, color blindness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983480" y="2231136"/>
            <a:ext cx="3703320" cy="777240"/>
          </a:xfrm>
          <a:prstGeom prst="roundRect">
            <a:avLst>
              <a:gd name="adj" fmla="val 8235"/>
            </a:avLst>
          </a:prstGeom>
          <a:solidFill>
            <a:srgbClr val="F0FDFA"/>
          </a:solidFill>
          <a:ln w="9525">
            <a:solidFill>
              <a:srgbClr val="D6E5E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38928" y="238658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8656" y="2496312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715000" y="2322576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715000" y="2615184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tremor, limited precision, keyboard-only use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983480" y="3136392"/>
            <a:ext cx="3703320" cy="777240"/>
          </a:xfrm>
          <a:prstGeom prst="roundRect">
            <a:avLst>
              <a:gd name="adj" fmla="val 8235"/>
            </a:avLst>
          </a:prstGeom>
          <a:solidFill>
            <a:srgbClr val="F0FDFA"/>
          </a:solidFill>
          <a:ln w="9525">
            <a:solidFill>
              <a:srgbClr val="D6E5E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138928" y="32918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8656" y="3401568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715000" y="32278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5715000" y="3520440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memory, attention, learning disabilities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983480" y="4041648"/>
            <a:ext cx="3703320" cy="777240"/>
          </a:xfrm>
          <a:prstGeom prst="roundRect">
            <a:avLst>
              <a:gd name="adj" fmla="val 8235"/>
            </a:avLst>
          </a:prstGeom>
          <a:solidFill>
            <a:srgbClr val="F0FDFA"/>
          </a:solidFill>
          <a:ln w="9525">
            <a:solidFill>
              <a:srgbClr val="D6E5E2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138928" y="419709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8656" y="4306824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715000" y="413308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Auditory &amp; temporary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5715000" y="4425696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deafness; broken arm, bright sunlight, slow network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 in 2026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is huge — and mostly unsolved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2011680"/>
          </a:xfrm>
          <a:prstGeom prst="roundRect">
            <a:avLst>
              <a:gd name="adj" fmla="val 4545"/>
            </a:avLst>
          </a:prstGeom>
          <a:solidFill>
            <a:srgbClr val="115E5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95.9%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top 1,000,000 home pages have at least one detectable WCAG 2 failure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34015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WebAIM Million report, 2026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46320" y="1298448"/>
            <a:ext cx="384048" cy="384048"/>
          </a:xfrm>
          <a:prstGeom prst="ellipse">
            <a:avLst/>
          </a:prstGeom>
          <a:solidFill>
            <a:srgbClr val="E6F4F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8492" y="1390620"/>
            <a:ext cx="199705" cy="19970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394960" y="128016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risk.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EAA enforceable in the EU since June 2025; US ADA lawsuits number in the thousands per year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846320" y="2167128"/>
            <a:ext cx="384048" cy="384048"/>
          </a:xfrm>
          <a:prstGeom prst="ellipse">
            <a:avLst/>
          </a:prstGeom>
          <a:solidFill>
            <a:srgbClr val="E6F4F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8492" y="2259300"/>
            <a:ext cx="199705" cy="19970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94960" y="21488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reach.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 users + older users + mobile users + temporary impairments = real customers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846320" y="3035808"/>
            <a:ext cx="384048" cy="384048"/>
          </a:xfrm>
          <a:prstGeom prst="ellipse">
            <a:avLst/>
          </a:prstGeom>
          <a:solidFill>
            <a:srgbClr val="E6F4F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8492" y="3127980"/>
            <a:ext cx="199705" cy="19970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94960" y="301752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UX &amp; SEO.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semantic, accessible sites rank better, load faster, convert higher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4846320" y="3904488"/>
            <a:ext cx="384048" cy="384048"/>
          </a:xfrm>
          <a:prstGeom prst="ellipse">
            <a:avLst/>
          </a:prstGeom>
          <a:solidFill>
            <a:srgbClr val="E6F4F2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8492" y="3996660"/>
            <a:ext cx="199705" cy="19970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94960" y="38862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quality.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a11y failures are mostly structural bugs — and they are fixable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WCAG Standard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Content Accessibility Guidelines — developed by W3C / WAI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shared, testable technical standard for web accessibility, referenced by laws worldwide. Each version is backward compatible: content that meets 2.2 also meets 2.1 and 2.0.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7498080" cy="0"/>
          </a:xfrm>
          <a:prstGeom prst="line">
            <a:avLst/>
          </a:prstGeom>
          <a:noFill/>
          <a:ln w="31750">
            <a:solidFill>
              <a:srgbClr val="D6E5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99032" y="2660904"/>
            <a:ext cx="164592" cy="16459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2402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301752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E6F4F2"/>
          </a:solidFill>
          <a:ln w="9525">
            <a:solidFill>
              <a:srgbClr val="D6E5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154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2.0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3493008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2.x release; later ISO/IEC 40500:2012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93008" y="2660904"/>
            <a:ext cx="164592" cy="16459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2" name="Text 10"/>
          <p:cNvSpPr/>
          <p:nvPr/>
        </p:nvSpPr>
        <p:spPr>
          <a:xfrm>
            <a:off x="2596896" y="22402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96896" y="301752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E6F4F2"/>
          </a:solidFill>
          <a:ln w="9525">
            <a:solidFill>
              <a:srgbClr val="D6E5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34056" y="3154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734056" y="3493008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mobile, low vision, cognitive criteria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586984" y="2660904"/>
            <a:ext cx="164592" cy="16459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4690872" y="22402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90872" y="301752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115E59"/>
          </a:solidFill>
          <a:ln w="9525">
            <a:solidFill>
              <a:srgbClr val="D6E5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3154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28032" y="3493008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standard · 9 new criteria · ISO/IEC 40500:2025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680960" y="2660904"/>
            <a:ext cx="164592" cy="16459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2" name="Text 20"/>
          <p:cNvSpPr/>
          <p:nvPr/>
        </p:nvSpPr>
        <p:spPr>
          <a:xfrm>
            <a:off x="6784848" y="22402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~2029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784848" y="301752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FFF7ED"/>
          </a:solidFill>
          <a:ln w="9525">
            <a:solidFill>
              <a:srgbClr val="D6E5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22008" y="3154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3.0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922008" y="3493008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Draft (Mar 2026) — not a standard yet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Stand: Mid-2026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clear answer for the team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0FDFA"/>
          </a:solidFill>
          <a:ln w="15875">
            <a:solidFill>
              <a:srgbClr val="0F7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087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501" y="162946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481328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2.2 Level AA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current, stable and legally operative target. Build to it now.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542032"/>
            <a:ext cx="457200" cy="457200"/>
          </a:xfrm>
          <a:prstGeom prst="ellipse">
            <a:avLst/>
          </a:prstGeom>
          <a:solidFill>
            <a:srgbClr val="E6F4F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651760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514600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recognition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234440" y="280720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2.2 approved as ISO/IEC 40500:2025 (October 2025) — a formal international standard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364992"/>
            <a:ext cx="457200" cy="457200"/>
          </a:xfrm>
          <a:prstGeom prst="ellipse">
            <a:avLst/>
          </a:prstGeom>
          <a:solidFill>
            <a:srgbClr val="E6F4F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474720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337560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3.0 is a draft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234440" y="363016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Draft updated March 2026; Recommendation expected ~2029. It will coexist with 2.2, not replace it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4187952"/>
            <a:ext cx="457200" cy="457200"/>
          </a:xfrm>
          <a:prstGeom prst="ellipse">
            <a:avLst/>
          </a:prstGeom>
          <a:solidFill>
            <a:srgbClr val="E6F4F2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297680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4160520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target 3.0 yet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234440" y="432595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regulator asks for it; no tool tests it. Track it for long-term planning only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Principles: POUR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guidelines · 87 success criteria · levels A / AA / AAA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011680" cy="3200400"/>
          </a:xfrm>
          <a:prstGeom prst="roundRect">
            <a:avLst>
              <a:gd name="adj" fmla="val 4545"/>
            </a:avLst>
          </a:prstGeom>
          <a:solidFill>
            <a:srgbClr val="F0FDFA"/>
          </a:solidFill>
          <a:ln w="12700">
            <a:solidFill>
              <a:srgbClr val="D6E5E2"/>
            </a:solidFill>
            <a:prstDash val="solid"/>
          </a:ln>
          <a:effectLst>
            <a:outerShdw sx="100000" sy="100000" kx="0" ky="0" algn="bl" rotWithShape="0" blurRad="101600" dist="25400" dir="5400000">
              <a:srgbClr val="0F766E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48132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1828800" y="1572768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2917" y="1686885"/>
            <a:ext cx="247254" cy="24725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2240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Perceivable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94360" y="260604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must be presentable in ways users can perceive — text alternatives, captions, contrast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587752" y="1371600"/>
            <a:ext cx="2011680" cy="3200400"/>
          </a:xfrm>
          <a:prstGeom prst="roundRect">
            <a:avLst>
              <a:gd name="adj" fmla="val 4545"/>
            </a:avLst>
          </a:prstGeom>
          <a:solidFill>
            <a:srgbClr val="F0FDFA"/>
          </a:solidFill>
          <a:ln w="12700">
            <a:solidFill>
              <a:srgbClr val="D6E5E2"/>
            </a:solidFill>
            <a:prstDash val="solid"/>
          </a:ln>
          <a:effectLst>
            <a:outerShdw sx="100000" sy="100000" kx="0" ky="0" algn="bl" rotWithShape="0" blurRad="101600" dist="25400" dir="5400000">
              <a:srgbClr val="0F766E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724912" y="148132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4000" dirty="0"/>
          </a:p>
        </p:txBody>
      </p:sp>
      <p:sp>
        <p:nvSpPr>
          <p:cNvPr id="12" name="Shape 9"/>
          <p:cNvSpPr/>
          <p:nvPr/>
        </p:nvSpPr>
        <p:spPr>
          <a:xfrm>
            <a:off x="3959352" y="1572768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469" y="1686885"/>
            <a:ext cx="247254" cy="24725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724912" y="2240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Operable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2724912" y="260604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must be operable by everyone — keyboard access, enough time, no seizure-inducing content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718304" y="1371600"/>
            <a:ext cx="2011680" cy="3200400"/>
          </a:xfrm>
          <a:prstGeom prst="roundRect">
            <a:avLst>
              <a:gd name="adj" fmla="val 4545"/>
            </a:avLst>
          </a:prstGeom>
          <a:solidFill>
            <a:srgbClr val="F0FDFA"/>
          </a:solidFill>
          <a:ln w="12700">
            <a:solidFill>
              <a:srgbClr val="D6E5E2"/>
            </a:solidFill>
            <a:prstDash val="solid"/>
          </a:ln>
          <a:effectLst>
            <a:outerShdw sx="100000" sy="100000" kx="0" ky="0" algn="bl" rotWithShape="0" blurRad="101600" dist="25400" dir="5400000">
              <a:srgbClr val="0F766E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4855464" y="148132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4000" dirty="0"/>
          </a:p>
        </p:txBody>
      </p:sp>
      <p:sp>
        <p:nvSpPr>
          <p:cNvPr id="18" name="Shape 14"/>
          <p:cNvSpPr/>
          <p:nvPr/>
        </p:nvSpPr>
        <p:spPr>
          <a:xfrm>
            <a:off x="6089904" y="1572768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021" y="1686885"/>
            <a:ext cx="247254" cy="24725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855464" y="2240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Understandable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4855464" y="260604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and operation must be understandable — readable text, predictable behavior, input help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848856" y="1371600"/>
            <a:ext cx="2011680" cy="3200400"/>
          </a:xfrm>
          <a:prstGeom prst="roundRect">
            <a:avLst>
              <a:gd name="adj" fmla="val 4545"/>
            </a:avLst>
          </a:prstGeom>
          <a:solidFill>
            <a:srgbClr val="F0FDFA"/>
          </a:solidFill>
          <a:ln w="12700">
            <a:solidFill>
              <a:srgbClr val="D6E5E2"/>
            </a:solidFill>
            <a:prstDash val="solid"/>
          </a:ln>
          <a:effectLst>
            <a:outerShdw sx="100000" sy="100000" kx="0" ky="0" algn="bl" rotWithShape="0" blurRad="101600" dist="25400" dir="5400000">
              <a:srgbClr val="0F766E">
                <a:alpha val="12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6986016" y="148132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4000" dirty="0"/>
          </a:p>
        </p:txBody>
      </p:sp>
      <p:sp>
        <p:nvSpPr>
          <p:cNvPr id="24" name="Shape 19"/>
          <p:cNvSpPr/>
          <p:nvPr/>
        </p:nvSpPr>
        <p:spPr>
          <a:xfrm>
            <a:off x="8220456" y="1572768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4573" y="1686885"/>
            <a:ext cx="247254" cy="24725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986016" y="2240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6986016" y="260604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must work with current and future user agents, including assistive technologies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— Perceivable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must be able to detect content with at least one sense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457200" cy="457200"/>
          </a:xfrm>
          <a:prstGeom prst="ellipse">
            <a:avLst/>
          </a:prstGeom>
          <a:solidFill>
            <a:srgbClr val="E6F4F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63040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3258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alternatives (1.1.1)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34440" y="16184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meaningful image needs alt text; decorative images get alt=""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221992"/>
            <a:ext cx="457200" cy="457200"/>
          </a:xfrm>
          <a:prstGeom prst="ellipse">
            <a:avLst/>
          </a:prstGeom>
          <a:solidFill>
            <a:srgbClr val="E6F4F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31720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1945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(1.4.3 / 1.4.11)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234440" y="24871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≥ 4.5:1 (large text 3:1); UI components &amp; icons ≥ 3:1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090672"/>
            <a:ext cx="457200" cy="457200"/>
          </a:xfrm>
          <a:prstGeom prst="ellipse">
            <a:avLst/>
          </a:prstGeom>
          <a:solidFill>
            <a:srgbClr val="E6F4F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200400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0632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Adaptable structure (1.3.x)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234440" y="33558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HTML: headings, landmarks, lists, table headers — not &lt;div&gt; soup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3959352"/>
            <a:ext cx="457200" cy="457200"/>
          </a:xfrm>
          <a:prstGeom prst="ellipse">
            <a:avLst/>
          </a:prstGeom>
          <a:solidFill>
            <a:srgbClr val="E6F4F2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069080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39319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Distinguishable (1.4.x)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234440" y="42245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rely on color alone; text resizable to 200%; reflow at 320px width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035040" y="1371600"/>
            <a:ext cx="2697480" cy="3246120"/>
          </a:xfrm>
          <a:prstGeom prst="roundRect">
            <a:avLst>
              <a:gd name="adj" fmla="val 2712"/>
            </a:avLst>
          </a:prstGeom>
          <a:solidFill>
            <a:srgbClr val="1E293B"/>
          </a:solidFill>
          <a:ln/>
        </p:spPr>
      </p:sp>
      <p:sp>
        <p:nvSpPr>
          <p:cNvPr id="21" name="Text 15"/>
          <p:cNvSpPr/>
          <p:nvPr/>
        </p:nvSpPr>
        <p:spPr>
          <a:xfrm>
            <a:off x="6217920" y="1554480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Bad --&gt;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src="chart.png"&gt;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Good --&gt;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src="chart.png"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alt="Q2 revenue up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18% vs Q1"&gt;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contrast ≥ 4.5:1 */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color: #1E293B;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background: #FFF;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— Operable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interaction must work without a mouse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457200" cy="457200"/>
          </a:xfrm>
          <a:prstGeom prst="ellipse">
            <a:avLst/>
          </a:prstGeom>
          <a:solidFill>
            <a:srgbClr val="E6F4F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63040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3258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accessible (2.1.x)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34440" y="16184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functionality via keyboard; no keyboard traps; visible focus (2.4.7)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221992"/>
            <a:ext cx="457200" cy="457200"/>
          </a:xfrm>
          <a:prstGeom prst="ellipse">
            <a:avLst/>
          </a:prstGeom>
          <a:solidFill>
            <a:srgbClr val="E6F4F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31720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1945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time &amp; control (2.2.x)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234440" y="24871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extend timeouts, pause carousels and auto-updating content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090672"/>
            <a:ext cx="457200" cy="457200"/>
          </a:xfrm>
          <a:prstGeom prst="ellipse">
            <a:avLst/>
          </a:prstGeom>
          <a:solidFill>
            <a:srgbClr val="E6F4F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200400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0632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Navigable (2.4.x)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234440" y="33558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links, meaningful page titles, logical focus order, descriptive links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3959352"/>
            <a:ext cx="457200" cy="457200"/>
          </a:xfrm>
          <a:prstGeom prst="ellipse">
            <a:avLst/>
          </a:prstGeom>
          <a:solidFill>
            <a:srgbClr val="E6F4F2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069080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39319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modalities (2.5.x)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234440" y="42245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Gestures have single-pointer alternatives; targets big enough to hit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035040" y="1371600"/>
            <a:ext cx="2697480" cy="3246120"/>
          </a:xfrm>
          <a:prstGeom prst="roundRect">
            <a:avLst>
              <a:gd name="adj" fmla="val 2712"/>
            </a:avLst>
          </a:prstGeom>
          <a:solidFill>
            <a:srgbClr val="F0FDFA"/>
          </a:solidFill>
          <a:ln w="12700">
            <a:solidFill>
              <a:srgbClr val="D6E5E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6263640" y="1554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self-test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6263640" y="196596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Unplug your mouse.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reach and use every control with Tab, Shift+Tab, Enter, Space and arrow keys?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always see where the focus is?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 — Understandable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content, predictable behavior, forgiving forms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457200" cy="457200"/>
          </a:xfrm>
          <a:prstGeom prst="ellipse">
            <a:avLst/>
          </a:prstGeom>
          <a:solidFill>
            <a:srgbClr val="E6F4F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63040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3258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(3.1.x)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34440" y="16184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the page language (lang attribute); write in plain language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221992"/>
            <a:ext cx="457200" cy="457200"/>
          </a:xfrm>
          <a:prstGeom prst="ellipse">
            <a:avLst/>
          </a:prstGeom>
          <a:solidFill>
            <a:srgbClr val="E6F4F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31720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1945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(3.2.x)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234440" y="24871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navigation &amp; naming; no surprise context changes on focus/input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090672"/>
            <a:ext cx="457200" cy="457200"/>
          </a:xfrm>
          <a:prstGeom prst="ellipse">
            <a:avLst/>
          </a:prstGeom>
          <a:solidFill>
            <a:srgbClr val="E6F4F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200400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0632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assistance (3.3.x)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234440" y="33558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labels (not just placeholders); clear error messages; suggest fixes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3959352"/>
            <a:ext cx="457200" cy="457200"/>
          </a:xfrm>
          <a:prstGeom prst="ellipse">
            <a:avLst/>
          </a:prstGeom>
          <a:solidFill>
            <a:srgbClr val="E6F4F2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069080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39319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help (3.2.6)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234440" y="42245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Contact/help mechanisms appear in the same place on every page — new in 2.2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035040" y="1371600"/>
            <a:ext cx="2697480" cy="3246120"/>
          </a:xfrm>
          <a:prstGeom prst="roundRect">
            <a:avLst>
              <a:gd name="adj" fmla="val 2712"/>
            </a:avLst>
          </a:prstGeom>
          <a:solidFill>
            <a:srgbClr val="1E293B"/>
          </a:solidFill>
          <a:ln/>
        </p:spPr>
      </p:sp>
      <p:sp>
        <p:nvSpPr>
          <p:cNvPr id="21" name="Text 15"/>
          <p:cNvSpPr/>
          <p:nvPr/>
        </p:nvSpPr>
        <p:spPr>
          <a:xfrm>
            <a:off x="6217920" y="1554480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Bad --&gt;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placeholder=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"Email"&gt;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Good --&gt;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&lt;label for="email"&gt;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Email&lt;/label&gt;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id="email"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type="email"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autocomplete=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"email"&gt;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— Robust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survives every browser and assistive technology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457200" cy="457200"/>
          </a:xfrm>
          <a:prstGeom prst="ellipse">
            <a:avLst/>
          </a:prstGeom>
          <a:solidFill>
            <a:srgbClr val="E6F4F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63040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3258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Role, Value (4.1.2)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34440" y="16184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custom component exposes its name, role and state to assistive tech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221992"/>
            <a:ext cx="457200" cy="457200"/>
          </a:xfrm>
          <a:prstGeom prst="ellipse">
            <a:avLst/>
          </a:prstGeom>
          <a:solidFill>
            <a:srgbClr val="E6F4F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31720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1945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HTML first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234440" y="24871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&lt;button&gt;, &lt;nav&gt;, &lt;dialog&gt; give you a11y for free — ARIA is the fallback, not the default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090672"/>
            <a:ext cx="457200" cy="457200"/>
          </a:xfrm>
          <a:prstGeom prst="ellipse">
            <a:avLst/>
          </a:prstGeom>
          <a:solidFill>
            <a:srgbClr val="E6F4F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200400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0632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rule of ARIA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234440" y="33558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 ARIA is better than bad ARIA” — wrong roles actively break screen readers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3959352"/>
            <a:ext cx="457200" cy="457200"/>
          </a:xfrm>
          <a:prstGeom prst="ellipse">
            <a:avLst/>
          </a:prstGeom>
          <a:solidFill>
            <a:srgbClr val="E6F4F2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069080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39319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messages (4.1.3)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234440" y="42245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 dynamic updates (toasts, validation) via role="status" / aria-live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035040" y="1371600"/>
            <a:ext cx="2697480" cy="3246120"/>
          </a:xfrm>
          <a:prstGeom prst="roundRect">
            <a:avLst>
              <a:gd name="adj" fmla="val 2712"/>
            </a:avLst>
          </a:prstGeom>
          <a:solidFill>
            <a:srgbClr val="1E293B"/>
          </a:solidFill>
          <a:ln/>
        </p:spPr>
      </p:sp>
      <p:sp>
        <p:nvSpPr>
          <p:cNvPr id="21" name="Text 15"/>
          <p:cNvSpPr/>
          <p:nvPr/>
        </p:nvSpPr>
        <p:spPr>
          <a:xfrm>
            <a:off x="6217920" y="1554480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Bad --&gt;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onClick={save}&gt;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Save&lt;/div&gt;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Good --&gt;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onClick=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{save}&gt;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Save&lt;/button&gt;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focusable, role,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Enter/Space: free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Conformance Levels: A / AA / AAA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are cumulative — AA includes all of 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97480" cy="3017520"/>
          </a:xfrm>
          <a:prstGeom prst="roundRect">
            <a:avLst>
              <a:gd name="adj" fmla="val 3390"/>
            </a:avLst>
          </a:prstGeom>
          <a:solidFill>
            <a:srgbClr val="E6F4F2"/>
          </a:solidFill>
          <a:ln w="12700">
            <a:solidFill>
              <a:srgbClr val="D6E5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544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Site is broken</a:t>
            </a:r>
          </a:p>
        </p:txBody>
      </p:sp>
      <p:sp>
        <p:nvSpPr>
          <p:cNvPr id="7" name="Text 5"/>
          <p:cNvSpPr/>
          <p:nvPr/>
        </p:nvSpPr>
        <p:spPr>
          <a:xfrm>
            <a:off x="685800" y="2670048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Image without alt text → screen reader says nothing.</a:t>
            </a:r>
          </a:p>
          <a:p>
            <a:r>
              <a:t>No keyboard navigation → motor-impaired user completely blocked.</a:t>
            </a:r>
          </a:p>
          <a:p>
            <a:r>
              <a:t>30 criteria. Failing even one = site is inaccessible.</a:t>
            </a:r>
          </a:p>
        </p:txBody>
      </p:sp>
      <p:sp>
        <p:nvSpPr>
          <p:cNvPr id="8" name="Shape 6"/>
          <p:cNvSpPr/>
          <p:nvPr/>
        </p:nvSpPr>
        <p:spPr>
          <a:xfrm>
            <a:off x="3227832" y="1371600"/>
            <a:ext cx="2697480" cy="3017520"/>
          </a:xfrm>
          <a:prstGeom prst="roundRect">
            <a:avLst>
              <a:gd name="adj" fmla="val 3390"/>
            </a:avLst>
          </a:prstGeom>
          <a:solidFill>
            <a:srgbClr val="115E59"/>
          </a:solidFill>
          <a:ln/>
          <a:effectLst>
            <a:outerShdw sx="100000" sy="100000" kx="0" ky="0" algn="bl" rotWithShape="0" blurRad="127000" dist="38100" dir="5400000">
              <a:srgbClr val="0F766E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56432" y="15544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456432" y="22860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Law requires this</a:t>
            </a:r>
          </a:p>
        </p:txBody>
      </p:sp>
      <p:sp>
        <p:nvSpPr>
          <p:cNvPr id="11" name="Text 9"/>
          <p:cNvSpPr/>
          <p:nvPr/>
        </p:nvSpPr>
        <p:spPr>
          <a:xfrm>
            <a:off x="3456432" y="2670048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Contrast ratio below 4.5:1 → low-vision user can't read.</a:t>
            </a:r>
          </a:p>
          <a:p>
            <a:r>
              <a:t>Paste blocked on password fields → excludes password managers.</a:t>
            </a:r>
          </a:p>
          <a:p>
            <a:r>
              <a:t>Error message just says "Invalid" → cognitive overload.</a:t>
            </a:r>
          </a:p>
          <a:p>
            <a:r>
              <a:t>56 criteria (A + AA). Required by EAA &amp; ADA.</a:t>
            </a:r>
          </a:p>
        </p:txBody>
      </p:sp>
      <p:sp>
        <p:nvSpPr>
          <p:cNvPr id="12" name="Shape 10"/>
          <p:cNvSpPr/>
          <p:nvPr/>
        </p:nvSpPr>
        <p:spPr>
          <a:xfrm>
            <a:off x="5998464" y="1371600"/>
            <a:ext cx="2697480" cy="3017520"/>
          </a:xfrm>
          <a:prstGeom prst="roundRect">
            <a:avLst>
              <a:gd name="adj" fmla="val 3390"/>
            </a:avLst>
          </a:prstGeom>
          <a:solidFill>
            <a:srgbClr val="E6F4F2"/>
          </a:solidFill>
          <a:ln w="12700">
            <a:solidFill>
              <a:srgbClr val="D6E5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27064" y="15544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AAA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227064" y="22860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Above and beyond</a:t>
            </a:r>
          </a:p>
        </p:txBody>
      </p:sp>
      <p:sp>
        <p:nvSpPr>
          <p:cNvPr id="15" name="Text 13"/>
          <p:cNvSpPr/>
          <p:nvPr/>
        </p:nvSpPr>
        <p:spPr>
          <a:xfrm>
            <a:off x="6227064" y="2670048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Contrast ratio ≥ 7:1 (vs 4.5:1 for AA).</a:t>
            </a:r>
          </a:p>
          <a:p>
            <a:r>
              <a:t>Sign language versions of all video content.</a:t>
            </a:r>
          </a:p>
          <a:p>
            <a:r>
              <a:t>No session timeouts — ever.</a:t>
            </a:r>
          </a:p>
          <a:p>
            <a:r>
              <a:t>87 criteria. Adopt selectively where feasible.</a:t>
            </a:r>
          </a:p>
        </p:txBody>
      </p:sp>
      <p:sp>
        <p:nvSpPr>
          <p:cNvPr id="16" name="Text 14"/>
          <p:cNvSpPr/>
          <p:nvPr/>
        </p:nvSpPr>
        <p:spPr>
          <a:xfrm>
            <a:off x="457200" y="4389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compatible: meeting AA automatically means meeting A.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What’s New in WCAG 2.2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new success criteria · 1 removed (4.1.1 Parsing — obsolete)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areas: users with low vision, cognitive &amp; learning disabilities, and mobile users with motor impairments.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697480" cy="841248"/>
          </a:xfrm>
          <a:prstGeom prst="roundRect">
            <a:avLst>
              <a:gd name="adj" fmla="val 7609"/>
            </a:avLst>
          </a:prstGeom>
          <a:solidFill>
            <a:srgbClr val="F0FDFA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874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2.4.11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0" y="1892808"/>
            <a:ext cx="457200" cy="256032"/>
          </a:xfrm>
          <a:prstGeom prst="roundRect">
            <a:avLst>
              <a:gd name="adj" fmla="val 17857"/>
            </a:avLst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0" y="189280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16712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Not Obscured (Min)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27832" y="1783080"/>
            <a:ext cx="2697480" cy="841248"/>
          </a:xfrm>
          <a:prstGeom prst="roundRect">
            <a:avLst>
              <a:gd name="adj" fmla="val 7609"/>
            </a:avLst>
          </a:prstGeom>
          <a:solidFill>
            <a:srgbClr val="F8FAFC"/>
          </a:solidFill>
          <a:ln w="9525">
            <a:solidFill>
              <a:srgbClr val="D6E5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64992" y="1874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2.4.12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30952" y="1892808"/>
            <a:ext cx="457200" cy="256032"/>
          </a:xfrm>
          <a:prstGeom prst="roundRect">
            <a:avLst>
              <a:gd name="adj" fmla="val 17857"/>
            </a:avLst>
          </a:prstGeom>
          <a:solidFill>
            <a:srgbClr val="CBD5E1"/>
          </a:solidFill>
          <a:ln/>
        </p:spPr>
      </p:sp>
      <p:sp>
        <p:nvSpPr>
          <p:cNvPr id="13" name="Text 11"/>
          <p:cNvSpPr/>
          <p:nvPr/>
        </p:nvSpPr>
        <p:spPr>
          <a:xfrm>
            <a:off x="5330952" y="189280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64992" y="216712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Not Obscured (Enh)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98464" y="1783080"/>
            <a:ext cx="2697480" cy="841248"/>
          </a:xfrm>
          <a:prstGeom prst="roundRect">
            <a:avLst>
              <a:gd name="adj" fmla="val 7609"/>
            </a:avLst>
          </a:prstGeom>
          <a:solidFill>
            <a:srgbClr val="F8FAFC"/>
          </a:solidFill>
          <a:ln w="9525">
            <a:solidFill>
              <a:srgbClr val="D6E5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35624" y="1874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2.4.13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01584" y="1892808"/>
            <a:ext cx="457200" cy="256032"/>
          </a:xfrm>
          <a:prstGeom prst="roundRect">
            <a:avLst>
              <a:gd name="adj" fmla="val 17857"/>
            </a:avLst>
          </a:prstGeom>
          <a:solidFill>
            <a:srgbClr val="CBD5E1"/>
          </a:solidFill>
          <a:ln/>
        </p:spPr>
      </p:sp>
      <p:sp>
        <p:nvSpPr>
          <p:cNvPr id="18" name="Text 16"/>
          <p:cNvSpPr/>
          <p:nvPr/>
        </p:nvSpPr>
        <p:spPr>
          <a:xfrm>
            <a:off x="8101584" y="189280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35624" y="216712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Appearance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2734056"/>
            <a:ext cx="2697480" cy="841248"/>
          </a:xfrm>
          <a:prstGeom prst="roundRect">
            <a:avLst>
              <a:gd name="adj" fmla="val 7609"/>
            </a:avLst>
          </a:prstGeom>
          <a:solidFill>
            <a:srgbClr val="F0FDFA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8254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2.5.7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60320" y="2843784"/>
            <a:ext cx="457200" cy="256032"/>
          </a:xfrm>
          <a:prstGeom prst="roundRect">
            <a:avLst>
              <a:gd name="adj" fmla="val 17857"/>
            </a:avLst>
          </a:prstGeom>
          <a:solidFill>
            <a:srgbClr val="0F766E"/>
          </a:solidFill>
          <a:ln/>
        </p:spPr>
      </p:sp>
      <p:sp>
        <p:nvSpPr>
          <p:cNvPr id="23" name="Text 21"/>
          <p:cNvSpPr/>
          <p:nvPr/>
        </p:nvSpPr>
        <p:spPr>
          <a:xfrm>
            <a:off x="2560320" y="284378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" y="311810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Dragging Movements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227832" y="2734056"/>
            <a:ext cx="2697480" cy="841248"/>
          </a:xfrm>
          <a:prstGeom prst="roundRect">
            <a:avLst>
              <a:gd name="adj" fmla="val 7609"/>
            </a:avLst>
          </a:prstGeom>
          <a:solidFill>
            <a:srgbClr val="F0FDFA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64992" y="28254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2.5.8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330952" y="2843784"/>
            <a:ext cx="457200" cy="256032"/>
          </a:xfrm>
          <a:prstGeom prst="roundRect">
            <a:avLst>
              <a:gd name="adj" fmla="val 17857"/>
            </a:avLst>
          </a:prstGeom>
          <a:solidFill>
            <a:srgbClr val="0F766E"/>
          </a:solidFill>
          <a:ln/>
        </p:spPr>
      </p:sp>
      <p:sp>
        <p:nvSpPr>
          <p:cNvPr id="28" name="Text 26"/>
          <p:cNvSpPr/>
          <p:nvPr/>
        </p:nvSpPr>
        <p:spPr>
          <a:xfrm>
            <a:off x="5330952" y="284378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64992" y="311810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Size (Minimum)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998464" y="2734056"/>
            <a:ext cx="2697480" cy="841248"/>
          </a:xfrm>
          <a:prstGeom prst="roundRect">
            <a:avLst>
              <a:gd name="adj" fmla="val 7609"/>
            </a:avLst>
          </a:prstGeom>
          <a:solidFill>
            <a:srgbClr val="F0FDFA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35624" y="28254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3.2.6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101584" y="2843784"/>
            <a:ext cx="457200" cy="256032"/>
          </a:xfrm>
          <a:prstGeom prst="roundRect">
            <a:avLst>
              <a:gd name="adj" fmla="val 17857"/>
            </a:avLst>
          </a:prstGeom>
          <a:solidFill>
            <a:srgbClr val="0F766E"/>
          </a:solidFill>
          <a:ln/>
        </p:spPr>
      </p:sp>
      <p:sp>
        <p:nvSpPr>
          <p:cNvPr id="33" name="Text 31"/>
          <p:cNvSpPr/>
          <p:nvPr/>
        </p:nvSpPr>
        <p:spPr>
          <a:xfrm>
            <a:off x="8101584" y="284378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35624" y="311810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Help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57200" y="3685032"/>
            <a:ext cx="2697480" cy="841248"/>
          </a:xfrm>
          <a:prstGeom prst="roundRect">
            <a:avLst>
              <a:gd name="adj" fmla="val 7609"/>
            </a:avLst>
          </a:prstGeom>
          <a:solidFill>
            <a:srgbClr val="F0FDFA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37764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3.3.7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60320" y="3794760"/>
            <a:ext cx="457200" cy="256032"/>
          </a:xfrm>
          <a:prstGeom prst="roundRect">
            <a:avLst>
              <a:gd name="adj" fmla="val 17857"/>
            </a:avLst>
          </a:prstGeom>
          <a:solidFill>
            <a:srgbClr val="0F766E"/>
          </a:solidFill>
          <a:ln/>
        </p:spPr>
      </p:sp>
      <p:sp>
        <p:nvSpPr>
          <p:cNvPr id="38" name="Text 36"/>
          <p:cNvSpPr/>
          <p:nvPr/>
        </p:nvSpPr>
        <p:spPr>
          <a:xfrm>
            <a:off x="2560320" y="37947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94360" y="406908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Entry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3227832" y="3685032"/>
            <a:ext cx="2697480" cy="841248"/>
          </a:xfrm>
          <a:prstGeom prst="roundRect">
            <a:avLst>
              <a:gd name="adj" fmla="val 7609"/>
            </a:avLst>
          </a:prstGeom>
          <a:solidFill>
            <a:srgbClr val="F0FDFA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64992" y="37764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3.3.8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330952" y="3794760"/>
            <a:ext cx="457200" cy="256032"/>
          </a:xfrm>
          <a:prstGeom prst="roundRect">
            <a:avLst>
              <a:gd name="adj" fmla="val 17857"/>
            </a:avLst>
          </a:prstGeom>
          <a:solidFill>
            <a:srgbClr val="0F766E"/>
          </a:solidFill>
          <a:ln/>
        </p:spPr>
      </p:sp>
      <p:sp>
        <p:nvSpPr>
          <p:cNvPr id="43" name="Text 41"/>
          <p:cNvSpPr/>
          <p:nvPr/>
        </p:nvSpPr>
        <p:spPr>
          <a:xfrm>
            <a:off x="5330952" y="37947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364992" y="406908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Auth (Min)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998464" y="3685032"/>
            <a:ext cx="2697480" cy="841248"/>
          </a:xfrm>
          <a:prstGeom prst="roundRect">
            <a:avLst>
              <a:gd name="adj" fmla="val 7609"/>
            </a:avLst>
          </a:prstGeom>
          <a:solidFill>
            <a:srgbClr val="F8FAFC"/>
          </a:solidFill>
          <a:ln w="9525">
            <a:solidFill>
              <a:srgbClr val="D6E5E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35624" y="37764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3.3.9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101584" y="3794760"/>
            <a:ext cx="457200" cy="256032"/>
          </a:xfrm>
          <a:prstGeom prst="roundRect">
            <a:avLst>
              <a:gd name="adj" fmla="val 17857"/>
            </a:avLst>
          </a:prstGeom>
          <a:solidFill>
            <a:srgbClr val="CBD5E1"/>
          </a:solidFill>
          <a:ln/>
        </p:spPr>
      </p:sp>
      <p:sp>
        <p:nvSpPr>
          <p:cNvPr id="48" name="Text 46"/>
          <p:cNvSpPr/>
          <p:nvPr/>
        </p:nvSpPr>
        <p:spPr>
          <a:xfrm>
            <a:off x="8101584" y="37947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135624" y="406908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Auth (Enh)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457200" y="4435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= Level A/AA — these matter for compliance today.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in 2.2: Interaction &amp; Focus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criteria most likely to hit our UI code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987552"/>
          </a:xfrm>
          <a:prstGeom prst="roundRect">
            <a:avLst>
              <a:gd name="adj" fmla="val 7407"/>
            </a:avLst>
          </a:prstGeom>
          <a:solidFill>
            <a:srgbClr val="F0FDFA"/>
          </a:solidFill>
          <a:ln w="9525">
            <a:solidFill>
              <a:srgbClr val="D6E5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627632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485" y="1741749"/>
            <a:ext cx="247254" cy="2472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490472"/>
            <a:ext cx="7178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2.4.11 Focus Not Obscured (AA)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371600" y="1801368"/>
            <a:ext cx="7178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focused element must not be fully hidden by sticky headers, footers or cookie banners. Use scroll-padding to keep focus visible.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505456"/>
            <a:ext cx="8229600" cy="987552"/>
          </a:xfrm>
          <a:prstGeom prst="roundRect">
            <a:avLst>
              <a:gd name="adj" fmla="val 7407"/>
            </a:avLst>
          </a:prstGeom>
          <a:solidFill>
            <a:srgbClr val="F0FDFA"/>
          </a:solidFill>
          <a:ln w="9525">
            <a:solidFill>
              <a:srgbClr val="D6E5E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" y="2761488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485" y="2875605"/>
            <a:ext cx="247254" cy="24725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624328"/>
            <a:ext cx="7178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2.5.7 Dragging Movements (AA)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371600" y="2935224"/>
            <a:ext cx="7178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drag-and-drop action needs a single-pointer alternative: move up/down buttons, cut &amp; paste, or a dropdown.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3639312"/>
            <a:ext cx="8229600" cy="987552"/>
          </a:xfrm>
          <a:prstGeom prst="roundRect">
            <a:avLst>
              <a:gd name="adj" fmla="val 7407"/>
            </a:avLst>
          </a:prstGeom>
          <a:solidFill>
            <a:srgbClr val="F0FDFA"/>
          </a:solidFill>
          <a:ln w="9525">
            <a:solidFill>
              <a:srgbClr val="D6E5E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58368" y="3895344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485" y="4009461"/>
            <a:ext cx="247254" cy="24725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758184"/>
            <a:ext cx="7178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2.5.8 Target Size — Minimum (AA)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371600" y="4069080"/>
            <a:ext cx="7178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targets must be at least 24×24 CSS px, or have enough spacing around them. Applies to icon buttons, table row actions, checkboxes.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in 2.2: Forms, Auth &amp; Help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accessibility — the biggest theme of 2.2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987552"/>
          </a:xfrm>
          <a:prstGeom prst="roundRect">
            <a:avLst>
              <a:gd name="adj" fmla="val 7407"/>
            </a:avLst>
          </a:prstGeom>
          <a:solidFill>
            <a:srgbClr val="F0FDFA"/>
          </a:solidFill>
          <a:ln w="9525">
            <a:solidFill>
              <a:srgbClr val="D6E5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627632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485" y="1741749"/>
            <a:ext cx="247254" cy="2472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490472"/>
            <a:ext cx="7178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3.3.8 Accessible Authentication (AA)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371600" y="1801368"/>
            <a:ext cx="7178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must not require a cognitive test (memorizing, transcribing, puzzles) without an alternative. Allow paste in password &amp; OTP fields; support password managers and passkeys.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57200" y="2505456"/>
            <a:ext cx="8229600" cy="987552"/>
          </a:xfrm>
          <a:prstGeom prst="roundRect">
            <a:avLst>
              <a:gd name="adj" fmla="val 7407"/>
            </a:avLst>
          </a:prstGeom>
          <a:solidFill>
            <a:srgbClr val="F0FDFA"/>
          </a:solidFill>
          <a:ln w="9525">
            <a:solidFill>
              <a:srgbClr val="D6E5E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" y="2761488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485" y="2875605"/>
            <a:ext cx="247254" cy="24725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624328"/>
            <a:ext cx="7178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3.3.7 Redundant Entry (A)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371600" y="2935224"/>
            <a:ext cx="7178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ask for the same information twice in one process — auto-populate or let users select previously entered data (e.g. “shipping same as billing”).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57200" y="3639312"/>
            <a:ext cx="8229600" cy="987552"/>
          </a:xfrm>
          <a:prstGeom prst="roundRect">
            <a:avLst>
              <a:gd name="adj" fmla="val 7407"/>
            </a:avLst>
          </a:prstGeom>
          <a:solidFill>
            <a:srgbClr val="F0FDFA"/>
          </a:solidFill>
          <a:ln w="9525">
            <a:solidFill>
              <a:srgbClr val="D6E5E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58368" y="3895344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485" y="4009461"/>
            <a:ext cx="247254" cy="24725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758184"/>
            <a:ext cx="7178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3.2.6 Consistent Help (A)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371600" y="4069080"/>
            <a:ext cx="7178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help exists (contact, chat, FAQ), it appears in the same relative place on every page.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Legal Landscape (2026)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is now regulation, not recommendation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rgbClr val="E6F4F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538021"/>
            <a:ext cx="261518" cy="2615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371600"/>
            <a:ext cx="7360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Accessibility Act (EAA)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25880" y="1691640"/>
            <a:ext cx="7360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Enforceable since June 28, 2025. Covers e-commerce, banking, telecom and more across the EU. Technical standard: EN 301 549, aligning with WCAG 2.2 AA.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496312"/>
            <a:ext cx="502920" cy="502920"/>
          </a:xfrm>
          <a:prstGeom prst="ellipse">
            <a:avLst/>
          </a:prstGeom>
          <a:solidFill>
            <a:srgbClr val="E6F4F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1" y="2617013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450592"/>
            <a:ext cx="7360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— ADA &amp; Section 508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325880" y="2770632"/>
            <a:ext cx="7360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DOJ Title II rule requires WCAG 2.1 AA for state/local government (deadline extended to 2027 in April 2026). Private-sector lawsuits increasingly cite 2.2 criteria.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575304"/>
            <a:ext cx="502920" cy="502920"/>
          </a:xfrm>
          <a:prstGeom prst="ellipse">
            <a:avLst/>
          </a:prstGeom>
          <a:solidFill>
            <a:srgbClr val="E6F4F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3696005"/>
            <a:ext cx="261518" cy="26151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529584"/>
            <a:ext cx="7360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&amp; others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325880" y="3849624"/>
            <a:ext cx="7360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public sector (PSBAR) references EN 301 549; Canada (AODA), Australia and many others mandate WCAG-based conformance at Level AA.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57200" y="4553712"/>
            <a:ext cx="8229600" cy="411480"/>
          </a:xfrm>
          <a:prstGeom prst="roundRect">
            <a:avLst>
              <a:gd name="adj" fmla="val 15556"/>
            </a:avLst>
          </a:prstGeom>
          <a:solidFill>
            <a:srgbClr val="FFF7ED"/>
          </a:solidFill>
          <a:ln/>
        </p:spPr>
      </p:sp>
      <p:sp>
        <p:nvSpPr>
          <p:cNvPr id="17" name="Text 12"/>
          <p:cNvSpPr/>
          <p:nvPr/>
        </p:nvSpPr>
        <p:spPr>
          <a:xfrm>
            <a:off x="640080" y="436252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shipping to the EU or US public sector without WCAG AA conformance is a legal and financial risk.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Common Failures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issue types ≈ 96% of all detected errors (WebAIM Million)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25880"/>
          <a:ext cx="52120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091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shares of top-1M home pages, WebAIM data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943600" y="1371600"/>
            <a:ext cx="2788920" cy="3246120"/>
          </a:xfrm>
          <a:prstGeom prst="roundRect">
            <a:avLst>
              <a:gd name="adj" fmla="val 2623"/>
            </a:avLst>
          </a:prstGeom>
          <a:solidFill>
            <a:srgbClr val="F0FDFA"/>
          </a:solidFill>
          <a:ln w="12700">
            <a:solidFill>
              <a:srgbClr val="D6E5E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72200" y="1554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good news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172200" y="192024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require a redesign. They are structural bugs: fix templates and shared components once, and the fix propagates everywhere.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172200" y="34747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contrast + alt + labels first for the fastest measurable win.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Tooling &amp; Testing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catches ~30–40% of issues — the rest is manual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0FDFA"/>
          </a:solidFill>
          <a:ln w="12700">
            <a:solidFill>
              <a:srgbClr val="D6E5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66420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6276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58368" y="2148840"/>
            <a:ext cx="2331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DevTools / axe-core</a:t>
            </a:r>
            <a:endParaRPr lang="en-US" sz="110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 (a11y audit)</a:t>
            </a:r>
            <a:endParaRPr lang="en-US" sz="110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browser extension</a:t>
            </a:r>
            <a:endParaRPr lang="en-US" sz="110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eslint-plugin-jsx-a11y</a:t>
            </a:r>
            <a:endParaRPr lang="en-US" sz="110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CI: @axe-core/playwright, pa11y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27832" y="137160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0FDFA"/>
          </a:solidFill>
          <a:ln w="12700">
            <a:solidFill>
              <a:srgbClr val="D6E5E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10712" y="15544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66420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05072" y="16276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429000" y="2148840"/>
            <a:ext cx="2331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Keyboard-only walkthrough</a:t>
            </a:r>
            <a:endParaRPr lang="en-US" sz="110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readers: NVDA (Win), VoiceOver (macOS/iOS)</a:t>
            </a:r>
            <a:endParaRPr lang="en-US" sz="110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200% zoom &amp; reflow check</a:t>
            </a:r>
            <a:endParaRPr lang="en-US" sz="110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Color-contrast picker</a:t>
            </a:r>
            <a:endParaRPr lang="en-US" sz="110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prefers-reduced-motion check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998464" y="137160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0FDFA"/>
          </a:solidFill>
          <a:ln w="12700">
            <a:solidFill>
              <a:srgbClr val="D6E5E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181344" y="15544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66420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75704" y="16276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199632" y="2148840"/>
            <a:ext cx="2331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A11y checks in Definition of Done</a:t>
            </a:r>
            <a:endParaRPr lang="en-US" sz="110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shared components first</a:t>
            </a:r>
            <a:endParaRPr lang="en-US" sz="110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in code review &amp; CI</a:t>
            </a:r>
            <a:endParaRPr lang="en-US" sz="110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Involve users with disabilities</a:t>
            </a:r>
            <a:endParaRPr lang="en-US" sz="110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issues like any other bug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Developer Checklist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Habits that prevent 90% of a11y bugs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347472" cy="347472"/>
          </a:xfrm>
          <a:prstGeom prst="ellipse">
            <a:avLst/>
          </a:prstGeom>
          <a:solidFill>
            <a:srgbClr val="E6F4F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313" y="1473281"/>
            <a:ext cx="180685" cy="18068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37160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HTML first: button, a, nav, main, h1–h6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02920" y="2084832"/>
            <a:ext cx="347472" cy="347472"/>
          </a:xfrm>
          <a:prstGeom prst="ellipse">
            <a:avLst/>
          </a:prstGeom>
          <a:solidFill>
            <a:srgbClr val="E6F4F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313" y="2168225"/>
            <a:ext cx="180685" cy="18068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2066544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image: meaningful alt or alt=""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02920" y="2779776"/>
            <a:ext cx="347472" cy="347472"/>
          </a:xfrm>
          <a:prstGeom prst="ellipse">
            <a:avLst/>
          </a:prstGeom>
          <a:solidFill>
            <a:srgbClr val="E6F4F2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313" y="2863169"/>
            <a:ext cx="180685" cy="18068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2761488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input: a real, visible &lt;label&gt;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502920" y="3474720"/>
            <a:ext cx="347472" cy="347472"/>
          </a:xfrm>
          <a:prstGeom prst="ellipse">
            <a:avLst/>
          </a:prstGeom>
          <a:solidFill>
            <a:srgbClr val="E6F4F2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313" y="3558113"/>
            <a:ext cx="180685" cy="18068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05840" y="3456432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contrast ≥ 4.5:1, UI/icons ≥ 3:1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502920" y="4169664"/>
            <a:ext cx="347472" cy="347472"/>
          </a:xfrm>
          <a:prstGeom prst="ellipse">
            <a:avLst/>
          </a:prstGeom>
          <a:solidFill>
            <a:srgbClr val="E6F4F2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313" y="4253057"/>
            <a:ext cx="180685" cy="18068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05840" y="4151376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focus style — never outline: none without a replacement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4709160" y="1389888"/>
            <a:ext cx="347472" cy="347472"/>
          </a:xfrm>
          <a:prstGeom prst="ellipse">
            <a:avLst/>
          </a:prstGeom>
          <a:solidFill>
            <a:srgbClr val="E6F4F2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2553" y="1473281"/>
            <a:ext cx="180685" cy="180685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212080" y="137160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keyboard support incl. modals (focus trap + Esc + return focus)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4709160" y="2084832"/>
            <a:ext cx="347472" cy="347472"/>
          </a:xfrm>
          <a:prstGeom prst="ellipse">
            <a:avLst/>
          </a:prstGeom>
          <a:solidFill>
            <a:srgbClr val="E6F4F2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2553" y="2168225"/>
            <a:ext cx="180685" cy="180685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212080" y="2066544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targets ≥ 24×24 px; drag actions have button alternatives</a:t>
            </a:r>
            <a:endParaRPr lang="en-US" sz="1200" dirty="0"/>
          </a:p>
        </p:txBody>
      </p:sp>
      <p:sp>
        <p:nvSpPr>
          <p:cNvPr id="25" name="Shape 16"/>
          <p:cNvSpPr/>
          <p:nvPr/>
        </p:nvSpPr>
        <p:spPr>
          <a:xfrm>
            <a:off x="4709160" y="2779776"/>
            <a:ext cx="347472" cy="347472"/>
          </a:xfrm>
          <a:prstGeom prst="ellipse">
            <a:avLst/>
          </a:prstGeom>
          <a:solidFill>
            <a:srgbClr val="E6F4F2"/>
          </a:solidFill>
          <a:ln/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92553" y="2863169"/>
            <a:ext cx="180685" cy="180685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212080" y="2761488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paste everywhere; never block password managers</a:t>
            </a:r>
            <a:endParaRPr lang="en-US" sz="1200" dirty="0"/>
          </a:p>
        </p:txBody>
      </p:sp>
      <p:sp>
        <p:nvSpPr>
          <p:cNvPr id="28" name="Shape 18"/>
          <p:cNvSpPr/>
          <p:nvPr/>
        </p:nvSpPr>
        <p:spPr>
          <a:xfrm>
            <a:off x="4709160" y="3474720"/>
            <a:ext cx="347472" cy="347472"/>
          </a:xfrm>
          <a:prstGeom prst="ellipse">
            <a:avLst/>
          </a:prstGeom>
          <a:solidFill>
            <a:srgbClr val="E6F4F2"/>
          </a:solidFill>
          <a:ln/>
        </p:spPr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92553" y="3558113"/>
            <a:ext cx="180685" cy="180685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5212080" y="3456432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 dynamic changes with aria-live / role="status"</a:t>
            </a:r>
            <a:endParaRPr lang="en-US" sz="1200" dirty="0"/>
          </a:p>
        </p:txBody>
      </p:sp>
      <p:sp>
        <p:nvSpPr>
          <p:cNvPr id="31" name="Shape 20"/>
          <p:cNvSpPr/>
          <p:nvPr/>
        </p:nvSpPr>
        <p:spPr>
          <a:xfrm>
            <a:off x="4709160" y="4169664"/>
            <a:ext cx="347472" cy="347472"/>
          </a:xfrm>
          <a:prstGeom prst="ellipse">
            <a:avLst/>
          </a:prstGeom>
          <a:solidFill>
            <a:srgbClr val="E6F4F2"/>
          </a:solidFill>
          <a:ln/>
        </p:spPr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92553" y="4253057"/>
            <a:ext cx="180685" cy="180685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5212080" y="4151376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prefers-reduced-motion; declare lang on &lt;html&gt;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What’s Coming: WCAG 3.0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it — don’t build to it (yet)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457200" cy="457200"/>
          </a:xfrm>
          <a:prstGeom prst="ellipse">
            <a:avLst/>
          </a:prstGeom>
          <a:solidFill>
            <a:srgbClr val="E6F4F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63040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325880"/>
            <a:ext cx="7452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34440" y="1618488"/>
            <a:ext cx="7452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Draft (latest: March 2026, 174 requirements). W3C Recommendation expected around 2029.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221992"/>
            <a:ext cx="457200" cy="457200"/>
          </a:xfrm>
          <a:prstGeom prst="ellipse">
            <a:avLst/>
          </a:prstGeom>
          <a:solidFill>
            <a:srgbClr val="E6F4F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31720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194560"/>
            <a:ext cx="7452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model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234440" y="2487168"/>
            <a:ext cx="7452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binary pass/fail A/AA/AAA with outcome-based guidelines and graded scoring across functional categories.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090672"/>
            <a:ext cx="457200" cy="457200"/>
          </a:xfrm>
          <a:prstGeom prst="ellipse">
            <a:avLst/>
          </a:prstGeom>
          <a:solidFill>
            <a:srgbClr val="E6F4F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200400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063240"/>
            <a:ext cx="7452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scope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234440" y="3355848"/>
            <a:ext cx="7452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cover new surfaces: XR, voice interfaces, AI-generated content.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3959352"/>
            <a:ext cx="457200" cy="457200"/>
          </a:xfrm>
          <a:prstGeom prst="ellipse">
            <a:avLst/>
          </a:prstGeom>
          <a:solidFill>
            <a:srgbClr val="E6F4F2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069080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3931920"/>
            <a:ext cx="7452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 for us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234440" y="4224528"/>
            <a:ext cx="7452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done for 2.2 is wasted — 3.0 will coexist with 2.2, and no tool or regulator tests 3.0 today. Keep shipping 2.2 AA.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5E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3108960"/>
            <a:ext cx="3840480" cy="3840480"/>
          </a:xfrm>
          <a:prstGeom prst="ellipse">
            <a:avLst/>
          </a:prstGeom>
          <a:solidFill>
            <a:srgbClr val="0F766E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389888"/>
            <a:ext cx="384048" cy="384048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532" y="1482060"/>
            <a:ext cx="199705" cy="1997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37160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WCAG 2.2 Level AA — the current standard, ISO-recognized and legally referenced.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94360" y="2039112"/>
            <a:ext cx="384048" cy="384048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532" y="2131284"/>
            <a:ext cx="199705" cy="19970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2020824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POUR: Perceivable, Operable, Understandable, Robust — in design, code and review.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594360" y="2688336"/>
            <a:ext cx="384048" cy="384048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532" y="2780508"/>
            <a:ext cx="199705" cy="19970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88720" y="2670048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big six first: contrast, alt text, labels, empty links/buttons, language.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594360" y="3337560"/>
            <a:ext cx="384048" cy="384048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532" y="3429732"/>
            <a:ext cx="199705" cy="19970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88720" y="3319272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what you can (axe, Lighthouse, CI) — then test with keyboard and a screen reader.</a:t>
            </a:r>
            <a:endParaRPr lang="en-US" sz="1450" dirty="0"/>
          </a:p>
        </p:txBody>
      </p:sp>
      <p:sp>
        <p:nvSpPr>
          <p:cNvPr id="16" name="Shape 10"/>
          <p:cNvSpPr/>
          <p:nvPr/>
        </p:nvSpPr>
        <p:spPr>
          <a:xfrm>
            <a:off x="594360" y="3986784"/>
            <a:ext cx="384048" cy="384048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532" y="4078956"/>
            <a:ext cx="199705" cy="19970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88720" y="3968496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is a continuous engineering practice, not a one-time compliance checkbox.</a:t>
            </a:r>
            <a:endParaRPr lang="en-US" sz="1450" dirty="0"/>
          </a:p>
        </p:txBody>
      </p:sp>
      <p:sp>
        <p:nvSpPr>
          <p:cNvPr id="19" name="Text 12"/>
          <p:cNvSpPr/>
          <p:nvPr/>
        </p:nvSpPr>
        <p:spPr>
          <a:xfrm>
            <a:off x="594360" y="438996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9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Resources:  w3.org/WAI  ·  WCAG 2.2 quick reference  ·  WebAIM  ·  MDN Accessibility  ·  a11yproject.com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0000"/>
            <a:ext cx="8229600" cy="5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b="1" sz="2800">
                <a:solidFill>
                  <a:srgbClr val="1E293B"/>
                </a:solidFill>
              </a:rPr>
              <a:t>What Each Level Means in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90000"/>
            <a:ext cx="8229600" cy="3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b="0" sz="1600">
                <a:solidFill>
                  <a:srgbClr val="334A47"/>
                </a:solidFill>
              </a:rPr>
              <a:t>Three questions: Is it broken? Does it meet the law? Is it excellent?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00000"/>
            <a:ext cx="2692400" cy="3500000"/>
          </a:xfrm>
          <a:prstGeom prst="rect">
            <a:avLst/>
          </a:prstGeom>
          <a:solidFill>
            <a:srgbClr val="E6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7200" y="1250000"/>
            <a:ext cx="2392400" cy="6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b="1" sz="5200">
                <a:solidFill>
                  <a:srgbClr val="0F766E"/>
                </a:solidFill>
              </a:rPr>
              <a:t>A</a:t>
            </a:r>
          </a:p>
        </p:txBody>
      </p:sp>
      <p:sp>
        <p:nvSpPr>
          <p:cNvPr id="6" name="Rectangle 5"/>
          <p:cNvSpPr/>
          <p:nvPr/>
        </p:nvSpPr>
        <p:spPr>
          <a:xfrm>
            <a:off x="607200" y="1930000"/>
            <a:ext cx="2392400" cy="6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7200" y="2010000"/>
            <a:ext cx="2392400" cy="2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b="1" sz="1400">
                <a:solidFill>
                  <a:srgbClr val="0F766E"/>
                </a:solidFill>
              </a:rPr>
              <a:t>Site is broken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7200" y="2310000"/>
            <a:ext cx="2392400" cy="4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b="0" sz="1300">
                <a:solidFill>
                  <a:srgbClr val="334A47"/>
                </a:solidFill>
              </a:rPr>
              <a:t>• Image has no alt text → screen reader says nothing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7200" y="2730000"/>
            <a:ext cx="2392400" cy="4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b="0" sz="1300">
                <a:solidFill>
                  <a:srgbClr val="334A47"/>
                </a:solidFill>
              </a:rPr>
              <a:t>• No keyboard navigation → motor-impaired user blocked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7200" y="3150000"/>
            <a:ext cx="2392400" cy="4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b="0" sz="1300">
                <a:solidFill>
                  <a:srgbClr val="334A47"/>
                </a:solidFill>
              </a:rPr>
              <a:t>• No captions on video → deaf user excluded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25800" y="1100000"/>
            <a:ext cx="2692400" cy="3500000"/>
          </a:xfrm>
          <a:prstGeom prst="rect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75800" y="1250000"/>
            <a:ext cx="2392400" cy="6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b="1" sz="5200">
                <a:solidFill>
                  <a:srgbClr val="FFFFFF"/>
                </a:solidFill>
              </a:rPr>
              <a:t>AA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75800" y="1930000"/>
            <a:ext cx="2392400" cy="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75800" y="2010000"/>
            <a:ext cx="2392400" cy="2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b="1" sz="1400">
                <a:solidFill>
                  <a:srgbClr val="FFFFFF"/>
                </a:solidFill>
              </a:rPr>
              <a:t>Law requires this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5800" y="2310000"/>
            <a:ext cx="2392400" cy="4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b="0" sz="1300">
                <a:solidFill>
                  <a:srgbClr val="FFFFFF"/>
                </a:solidFill>
              </a:rPr>
              <a:t>• Text contrast below 4.5:1 → low-vision user can't read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75800" y="2730000"/>
            <a:ext cx="2392400" cy="4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b="0" sz="1300">
                <a:solidFill>
                  <a:srgbClr val="FFFFFF"/>
                </a:solidFill>
              </a:rPr>
              <a:t>• Paste blocked on passwords → excludes password managers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75800" y="3150000"/>
            <a:ext cx="2392400" cy="4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b="0" sz="1300">
                <a:solidFill>
                  <a:srgbClr val="FFFFFF"/>
                </a:solidFill>
              </a:rPr>
              <a:t>• Error just says "Invalid" → no guidance for fix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94400" y="1100000"/>
            <a:ext cx="2692400" cy="3500000"/>
          </a:xfrm>
          <a:prstGeom prst="rect">
            <a:avLst/>
          </a:prstGeom>
          <a:solidFill>
            <a:srgbClr val="E6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400" y="1250000"/>
            <a:ext cx="2392400" cy="6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b="1" sz="5200">
                <a:solidFill>
                  <a:srgbClr val="0F766E"/>
                </a:solidFill>
              </a:rPr>
              <a:t>AAA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4400" y="1930000"/>
            <a:ext cx="2392400" cy="6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44400" y="2010000"/>
            <a:ext cx="2392400" cy="2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b="1" sz="1400">
                <a:solidFill>
                  <a:srgbClr val="0F766E"/>
                </a:solidFill>
              </a:rPr>
              <a:t>Above and beyond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400" y="2310000"/>
            <a:ext cx="2392400" cy="4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b="0" sz="1300">
                <a:solidFill>
                  <a:srgbClr val="334A47"/>
                </a:solidFill>
              </a:rPr>
              <a:t>• Contrast ≥ 7:1 (vs 4.5:1 for AA)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44400" y="2730000"/>
            <a:ext cx="2392400" cy="4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b="0" sz="1300">
                <a:solidFill>
                  <a:srgbClr val="334A47"/>
                </a:solidFill>
              </a:rPr>
              <a:t>• Sign language version for all video content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4400" y="3150000"/>
            <a:ext cx="2392400" cy="4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b="0" sz="1300">
                <a:solidFill>
                  <a:srgbClr val="334A47"/>
                </a:solidFill>
              </a:rPr>
              <a:t>• Zero session timeouts — ever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Accessibility (a11y) — WCAG</dc:title>
  <dc:subject>PptxGenJS Presentation</dc:subject>
  <dc:creator>Vasyl</dc:creator>
  <cp:lastModifiedBy>Vasyl</cp:lastModifiedBy>
  <cp:revision>1</cp:revision>
  <dcterms:created xsi:type="dcterms:W3CDTF">2026-07-02T10:40:02Z</dcterms:created>
  <dcterms:modified xsi:type="dcterms:W3CDTF">2026-07-02T10:40:02Z</dcterms:modified>
</cp:coreProperties>
</file>