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554480"/>
            <a:ext cx="4389120" cy="4389120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383280"/>
            <a:ext cx="3474720" cy="3474720"/>
          </a:xfrm>
          <a:prstGeom prst="ellipse">
            <a:avLst/>
          </a:prstGeom>
          <a:solidFill>
            <a:srgbClr val="6D28D9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822960" cy="8229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9747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Coding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48640" y="272491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development in 2026: what it is, where it works, and how to do it without burning down production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talk for the dev team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Term Comes From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2, 2025 — one tweet started it all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937760" cy="2148840"/>
          </a:xfrm>
          <a:prstGeom prst="roundRect">
            <a:avLst>
              <a:gd name="adj" fmla="val 4255"/>
            </a:avLst>
          </a:prstGeom>
          <a:solidFill>
            <a:srgbClr val="F5F3FF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“There’s a new kind of coding I call ‘vibe coding’, where you fully give in to the vibes, embrace exponentials, and forget that the code even exists.”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Andrej Karpathy, co-founder of OpenAI, former AI lead at Tesla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1371600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4813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325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55080" y="163677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outcome in natural language — AI writes the code. “The hottest new programming language is English.”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2651760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276148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606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the Year 2025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355080" y="291693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 English Dictionary named “vibe coding” Word of the Year; searches grew ~2,400% since Jan 2025.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794760"/>
            <a:ext cx="8275320" cy="9144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3913632"/>
            <a:ext cx="7818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Willison’s line in the sand: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reviewed it, tested it and can explain how it works — that’s not vibe coding, that’s software development. Vibe coding strictly means accepting AI code without full review.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State of Adoption (2026)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adoption metric is up — every trust metric is down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developers use AI coding tools daily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7752" y="137160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70632" y="23317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trust the code those tools produce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18304" y="137160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901184" y="23317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new code in 2026 will be AI-generated (Gartner forecast)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48856" y="137160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0296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031736" y="23317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market captured by IDE-based assistants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75320" cy="1143000"/>
          </a:xfrm>
          <a:prstGeom prst="roundRect">
            <a:avLst>
              <a:gd name="adj" fmla="val 6400"/>
            </a:avLst>
          </a:prstGeom>
          <a:solidFill>
            <a:srgbClr val="4C1D9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30752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92% vs 29% gap is the story of 2026: </a:t>
            </a:r>
            <a:pPr indent="0" marL="0">
              <a:buNone/>
            </a:pPr>
            <a:r>
              <a:rPr lang="en-US" sz="14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has massively outpaced governance. The question is no longer “should we use AI?” but “how do we control what it produces?”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Build Economics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everyone suddenly cares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build cost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34440" y="1627632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~$200,000 → ~$5,000 for a functional product; timelines from 6 months → 6 weeks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249424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5915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221992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Combinator W25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34440" y="2523744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the batch have codebases that are 95%+ AI-generated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45536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5526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18104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coding now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34440" y="3419856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vibe coding users are non-developers; ~16.2M citizen developers worldwide (Forrester); Gartner: they’ll outnumber engineers 4:1 by 2028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041648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513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014216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market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34440" y="4315968"/>
            <a:ext cx="7452360" cy="43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Cursor: $1B → $4B ARR (Jan–Jun 2026); acquired by SpaceX for $60B (June 16, 2026). Claude Code + Cursor = over half of primary-tool choices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One Thing: The Spectrum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tools — three very different practices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FFFBEB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Prompt-driven, minimally governed. Code generated and often shipped with limited review or architecture.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38221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Prototypes, throwaway tools, personal projects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AI-Accelerated Dev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47288" y="2148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most code, but it flows through the same standards, tests and review as human code.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47288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47288" y="38221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feature work in real products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EDE9FE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Engineering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36208" y="2148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Architect-governed agents: specs in, multi-step plans, test-gated pipelines, human sign-off.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36208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36208" y="38221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at scale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89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shift: “vibe” is less about casualness, more about fluency in directing AI toward correct, maintainable software.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Vibe Coding Shines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Well-documented patterns + speed over novelty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&amp; MVPs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Idea-to-prototype in hours; CRUD-heavy MVPs in a day instead of weeks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317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&amp; glue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871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endpoints, standard forms, API integrations with popular libraries, DB migrations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004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utilities, automation scripts — low blast radius, high time savings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690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31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learning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2245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a new framework, spiking an approach, generating test data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035040" y="137160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5F3FF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6364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gains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263640" y="19659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</a:t>
            </a:r>
            <a:endParaRPr lang="en-US" sz="3400" dirty="0"/>
          </a:p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on suitable tasks, per practitioner reports</a:t>
            </a:r>
            <a:endParaRPr lang="en-US" sz="3400" dirty="0"/>
          </a:p>
          <a:p>
            <a:pPr indent="0" marL="0">
              <a:buNone/>
            </a:pPr>
            <a:endParaRPr lang="en-US" sz="34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patterns are well-documented and the goal is speed, not invention.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boundary before you cross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Security-critical code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payments, encryption — demand human expertise; regulated industries (finance, health) require human audits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317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9456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architecture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87168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systems, novel algorithms, long-term structure — models lose the plot beyond well-trodden patterns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004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6324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Performance-critical paths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55848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every millisecond counts, hand-crafted code still wins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6908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3192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unreviewed in production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224528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hallucinates APIs, misses edge cases; 63% of devs report spending more time debugging AI code than writing it themselves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Productivity Illusion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 study, July 2025 — the most uncomfortable finding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4C1D9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−19%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developers were 19% slower on complex tasks when using AI tools…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…while believing they were 20% faster.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435608"/>
            <a:ext cx="402336" cy="402336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2881" y="1532169"/>
            <a:ext cx="209215" cy="209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4068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40680" y="16916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overhead, context-switching, and “almost right” code that takes longer to fix than to write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46320" y="2459736"/>
            <a:ext cx="402336" cy="402336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881" y="2556297"/>
            <a:ext cx="209215" cy="2092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doesn’t mean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440680" y="271576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useless — gains on suitable tasks (boilerplate, prototypes) are real and large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846320" y="3483864"/>
            <a:ext cx="402336" cy="402336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881" y="3580425"/>
            <a:ext cx="209215" cy="2092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40680" y="3465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mean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440680" y="373989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actual outcomes (cycle time, defect rate), not vibes; match the tool to the task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The Hard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without review = incidents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240280" y="157276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AI-generated code may contain security flaws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54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92240" y="157276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 leaders name ungoverned AI usage (Shadow IT) their top security barrier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7532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3246120"/>
            <a:ext cx="502920" cy="50292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3366821"/>
            <a:ext cx="261518" cy="26151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3127248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study, early 2026: 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vibe-coded app leaked 1.5M API keys and 35,000 user emails via a misconfigured database. The owner admitted they hadn’t written a single line of code manually.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4206240"/>
            <a:ext cx="8275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2026: a permissions bug in a popular vibe-coding platform exposed users’ project source and data for weeks before being fixed. The prettier the prototype, the easier it is to forget what’s underneath.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Disciplined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Review → Test → Commit (or revert)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Prompt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792" y="254203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scoped asks with clear constraints — one feature at a time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96896" y="14173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79776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17099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61488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Review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761488" y="254203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output like a PR: error handling, edge cases, hallucinated APIs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36592" y="14173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19472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099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01184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 now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01184" y="254203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immediately; check related functionality didn’t break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876288" y="14173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59168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17099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Commit / revert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40880" y="254203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every working state; revert instead of stacking fixes on broken code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3977640"/>
            <a:ext cx="8275320" cy="777240"/>
          </a:xfrm>
          <a:prstGeom prst="roundRect">
            <a:avLst>
              <a:gd name="adj" fmla="val 9412"/>
            </a:avLst>
          </a:prstGeom>
          <a:solidFill>
            <a:srgbClr val="FFFBEB"/>
          </a:solidFill>
          <a:ln/>
        </p:spPr>
      </p:sp>
      <p:sp>
        <p:nvSpPr>
          <p:cNvPr id="25" name="Text 19"/>
          <p:cNvSpPr/>
          <p:nvPr/>
        </p:nvSpPr>
        <p:spPr>
          <a:xfrm>
            <a:off x="685800" y="4087368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keeps generating similar broken fixes — stop. Reset to the last working commit and rewrite the prompt. Never accumulate “layers of bad code.”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Prompts to Specs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“Specification engineering” — the biggest practice shift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 the spec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618488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constraints, architecture preferences, acceptance criteria — before invoking any tool. Vague prompts produce vague code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31136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4086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203704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rules files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96312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/ .cursorrules / .windsurfrules in the repo root: tech stack, naming conventions, DB schema, patterns — so AI fits your codebase instead of inventing new ones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186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81528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discipline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74136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AI-generated feature on its own branch; diffs reviewed before merge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86784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9651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59352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with human criteria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251960"/>
            <a:ext cx="7452360" cy="49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tests are fine — acceptance criteria must be human-reviewed, or tests just validate incorrect behavior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Rules File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of setup that upgrades every prompt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4617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 / .cursorrules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Next.js 14, TypeScript strict,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 + Postgres, Tailwind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Conventions: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Server components by default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Zod validation on all inputs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 any; explicit return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Errors: Result&lt;T&gt;, never throw in services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Touch /payments without asking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Add dependencies without approval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1481328"/>
            <a:ext cx="384048" cy="38404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892" y="1573500"/>
            <a:ext cx="199705" cy="1997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14630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beats cleverness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09360" y="17556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can’t guess your conventions — write them down once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2560320"/>
            <a:ext cx="384048" cy="38404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892" y="2652492"/>
            <a:ext cx="199705" cy="199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9360" y="25420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included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309360" y="2834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“Never” sections keep agents out of dangerous zones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760720" y="3639312"/>
            <a:ext cx="384048" cy="384048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892" y="3731484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36210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09360" y="391363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it when review keeps catching the same mistake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 Landscape (2026)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IDE-based assistants own 49% of the market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753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566160"/>
                <a:gridCol w="3017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1D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AI-first IDE; largest community; multi-file edits, agent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work in an established codebase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1D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Terminal/IDE agent; deep reasoning, huge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refactoring, multi-step agentic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1D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autocomplete + chat inside existing 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Autocomplete-style assistance, enterprise rollout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1D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Windsurf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agentic flows, aggressive 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Budget-friendly full-stack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1D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 (AWS)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that want structure-first AI workflows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1D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Bolt.new / Lovable / Replit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Browser-based app generators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Non-developers, quick prototypes and demos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89960"/>
            <a:ext cx="8275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setups combine tools rather than betting on one. The market moves fast — today’s leader may not hold in 18 months.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for Our 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the speed without the incidents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44168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445118"/>
            <a:ext cx="218724" cy="2187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258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review.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goes through the same PR review as human code — no direct-to-main, ever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020824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121774"/>
            <a:ext cx="218724" cy="2187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0025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gates in CI.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+ security scanning (SAST, secrets detection, dependency audit) on every merge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2798430"/>
            <a:ext cx="218724" cy="2187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7919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zones are human-only.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payments, crypto, PII handling: AI can draft, humans own and rewrite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3374136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3475086"/>
            <a:ext cx="218724" cy="2187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3558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tools &amp; data rules.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models may see proprietary code; check provider data-processing terms before pasting code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4050792"/>
            <a:ext cx="420624" cy="42062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90" y="4151742"/>
            <a:ext cx="218724" cy="2187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03250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bar.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can’t explain the diff to a teammate, it doesn’t merge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to Our Jobs?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Evolving, not disappearing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5F3FF"/>
          </a:solidFill>
          <a:ln w="12700">
            <a:solidFill>
              <a:srgbClr val="E2D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Commoditizing 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code line by line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Memorizing syntax &amp; APIs</a:t>
            </a:r>
            <a:endParaRPr lang="en-US" sz="1250" dirty="0"/>
          </a:p>
          <a:p>
            <a:pPr marL="101600" indent="-1016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implementation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4C1D9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65192" y="201168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orchestration: directing agents, writing specs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code review at scale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expertise</a:t>
            </a:r>
            <a:endParaRPr lang="en-US" sz="1250" dirty="0"/>
          </a:p>
          <a:p>
            <a:pPr marL="101600" indent="-101600">
              <a:buSzPct val="100000"/>
              <a:buChar char="•"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108960"/>
            <a:ext cx="3840480" cy="3840480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82060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716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is real and here: 92% daily adoption, 60% of new code AI-generated — but only 29% trust it.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" y="2048256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2" y="2140428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0299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spectrum: vibe for prototypes, AI-accelerated for features, agentic engineering for production.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94360" y="2706624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2" y="2798796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8833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boundary: AI drafts the repetitive; humans own auth, payments, architecture and anything novel.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94360" y="3364992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2" y="3457164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34670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beats vibes: specs &amp; rules files in, tight prompt–review–test–commit loops, review every diff.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94360" y="402336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32" y="4115532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00507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the rising skills: system design, AI orchestration, security, domain depth.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94360" y="4399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reviewed it, tested it, and can explain it — congratulations, it’s software development.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— AI-First Development in 2026</dc:title>
  <dc:subject>PptxGenJS Presentation</dc:subject>
  <dc:creator>Vasyl</dc:creator>
  <cp:lastModifiedBy>Vasyl</cp:lastModifiedBy>
  <cp:revision>1</cp:revision>
  <dcterms:created xsi:type="dcterms:W3CDTF">2026-07-02T13:25:59Z</dcterms:created>
  <dcterms:modified xsi:type="dcterms:W3CDTF">2026-07-02T13:25:59Z</dcterms:modified>
</cp:coreProperties>
</file>