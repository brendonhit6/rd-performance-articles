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463040"/>
            <a:ext cx="4206240" cy="4206240"/>
          </a:xfrm>
          <a:prstGeom prst="ellipse">
            <a:avLst/>
          </a:prstGeom>
          <a:solidFill>
            <a:srgbClr val="15803D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3474720"/>
            <a:ext cx="3291840" cy="3291840"/>
          </a:xfrm>
          <a:prstGeom prst="ellipse">
            <a:avLst/>
          </a:prstGeom>
          <a:solidFill>
            <a:srgbClr val="15803D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777240"/>
            <a:ext cx="822960" cy="822960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97475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Effective Developer Testing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548640" y="26974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BF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test your own code so bugs die young — and releases stop being scary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C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talk for the whole team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Bother? The Cost of a Bug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you find it, the more it costs — “shift left”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65960" cy="2377440"/>
          </a:xfrm>
          <a:prstGeom prst="roundRect">
            <a:avLst>
              <a:gd name="adj" fmla="val 4651"/>
            </a:avLst>
          </a:prstGeom>
          <a:solidFill>
            <a:srgbClr val="DCFCE7"/>
          </a:solidFill>
          <a:ln w="9525">
            <a:solidFill>
              <a:srgbClr val="D7EB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600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coding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1792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21792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fix it before anyone sees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34086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965960" cy="2377440"/>
          </a:xfrm>
          <a:prstGeom prst="roundRect">
            <a:avLst>
              <a:gd name="adj" fmla="val 4651"/>
            </a:avLst>
          </a:prstGeom>
          <a:solidFill>
            <a:srgbClr val="F0FDF4"/>
          </a:solidFill>
          <a:ln w="9525">
            <a:solidFill>
              <a:srgbClr val="D7EB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61488" y="1600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 review / CI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61488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761488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teammate or pipeline catches it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48056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736592" y="1417320"/>
            <a:ext cx="1965960" cy="2377440"/>
          </a:xfrm>
          <a:prstGeom prst="roundRect">
            <a:avLst>
              <a:gd name="adj" fmla="val 4651"/>
            </a:avLst>
          </a:prstGeom>
          <a:solidFill>
            <a:srgbClr val="FFFBEB"/>
          </a:solidFill>
          <a:ln w="9525">
            <a:solidFill>
              <a:srgbClr val="D7EB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1184" y="1600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QA / staging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01184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901184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Reproduce, report, re-test, re-deploy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62025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876288" y="1417320"/>
            <a:ext cx="1965960" cy="2377440"/>
          </a:xfrm>
          <a:prstGeom prst="roundRect">
            <a:avLst>
              <a:gd name="adj" fmla="val 4651"/>
            </a:avLst>
          </a:prstGeom>
          <a:solidFill>
            <a:srgbClr val="FEF2F2"/>
          </a:solidFill>
          <a:ln w="9525">
            <a:solidFill>
              <a:srgbClr val="D7EB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40880" y="1600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4088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days–weeks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4088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Incidents, hotfixes, angry users, lost trust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069080"/>
            <a:ext cx="8275320" cy="73152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178808"/>
            <a:ext cx="7818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testing in one sentence: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every bug at the cheapest possible stage — ideally while the code is still on your screen.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l"/>
            <a:r>
              <a:rPr b="1" i="0" sz="2800">
                <a:solidFill>
                  <a:srgbClr val="1E293B"/>
                </a:solidFill>
              </a:rPr>
              <a:t>The Testing Pyramid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l"/>
            <a:r>
              <a:rPr b="0" i="0" sz="1300">
                <a:solidFill>
                  <a:srgbClr val="5B6B7C"/>
                </a:solidFill>
              </a:rPr>
              <a:t>More tests at the bottom (fast · cheap · stable)  →  fewer at the top (slow · costly · brittle)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325880"/>
            <a:ext cx="2286000" cy="105156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331720" y="1399032"/>
            <a:ext cx="2103120" cy="9601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E2E / UI</a:t>
            </a:r>
            <a:r>
              <a:rPr b="0" i="0" sz="1100">
                <a:solidFill>
                  <a:srgbClr val="DCFCE7"/>
                </a:solidFill>
              </a:rPr>
              <a:t>   —   a few</a:t>
            </a:r>
          </a:p>
          <a:p>
            <a:pPr algn="l"/>
            <a:r>
              <a:rPr b="0" i="0" sz="950">
                <a:solidFill>
                  <a:srgbClr val="DCFCE7"/>
                </a:solidFill>
              </a:rPr>
              <a:t>Full user journeys through the real system</a:t>
            </a:r>
          </a:p>
          <a:p>
            <a:pPr algn="l"/>
            <a:r>
              <a:rPr b="0" i="1" sz="900">
                <a:solidFill>
                  <a:srgbClr val="A7F3D0"/>
                </a:solidFill>
              </a:rPr>
              <a:t>Playwright  ·  Cypress  ·  Selenium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441447"/>
            <a:ext cx="4206240" cy="10515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371600" y="2514599"/>
            <a:ext cx="4023359" cy="9601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Integration</a:t>
            </a:r>
            <a:r>
              <a:rPr b="0" i="0" sz="1100">
                <a:solidFill>
                  <a:srgbClr val="DCFCE7"/>
                </a:solidFill>
              </a:rPr>
              <a:t>   —   some</a:t>
            </a:r>
          </a:p>
          <a:p>
            <a:pPr algn="l"/>
            <a:r>
              <a:rPr b="0" i="0" sz="950">
                <a:solidFill>
                  <a:srgbClr val="DCFCE7"/>
                </a:solidFill>
              </a:rPr>
              <a:t>Modules talking to each other: API + DB, service calls</a:t>
            </a:r>
          </a:p>
          <a:p>
            <a:pPr algn="l"/>
            <a:r>
              <a:rPr b="0" i="1" sz="900">
                <a:solidFill>
                  <a:srgbClr val="A7F3D0"/>
                </a:solidFill>
              </a:rPr>
              <a:t>Supertest  ·  TestContainers  ·  pytest + 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57015"/>
            <a:ext cx="5760720" cy="10515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3630167"/>
            <a:ext cx="5577840" cy="9601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Unit</a:t>
            </a:r>
            <a:r>
              <a:rPr b="0" i="0" sz="1100">
                <a:solidFill>
                  <a:srgbClr val="F0FDF4"/>
                </a:solidFill>
              </a:rPr>
              <a:t>   —   lots</a:t>
            </a:r>
          </a:p>
          <a:p>
            <a:pPr algn="l"/>
            <a:r>
              <a:rPr b="0" i="0" sz="950">
                <a:solidFill>
                  <a:srgbClr val="F0FDF4"/>
                </a:solidFill>
              </a:rPr>
              <a:t>One function or component tested in isolation</a:t>
            </a:r>
          </a:p>
          <a:p>
            <a:pPr algn="l"/>
            <a:r>
              <a:rPr b="0" i="1" sz="900">
                <a:solidFill>
                  <a:srgbClr val="F0FDF4"/>
                </a:solidFill>
              </a:rPr>
              <a:t>Jest  ·  Vitest  ·  pytest  ·  JUnit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1554480" cy="8686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B91C1C"/>
                </a:solidFill>
              </a:rPr>
              <a:t>↑  going up:</a:t>
            </a:r>
          </a:p>
          <a:p>
            <a:pPr algn="l"/>
            <a:r>
              <a:rPr b="0" i="0" sz="850">
                <a:solidFill>
                  <a:srgbClr val="B91C1C"/>
                </a:solidFill>
              </a:rPr>
              <a:t>fewer tests</a:t>
            </a:r>
          </a:p>
          <a:p>
            <a:pPr algn="l"/>
            <a:r>
              <a:rPr b="0" i="0" sz="850">
                <a:solidFill>
                  <a:srgbClr val="B91C1C"/>
                </a:solidFill>
              </a:rPr>
              <a:t>slower to run</a:t>
            </a:r>
          </a:p>
          <a:p>
            <a:pPr algn="l"/>
            <a:r>
              <a:rPr b="0" i="0" sz="850">
                <a:solidFill>
                  <a:srgbClr val="B91C1C"/>
                </a:solidFill>
              </a:rPr>
              <a:t>more costly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25880"/>
            <a:ext cx="2240280" cy="329184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75120" y="1463039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l"/>
            <a:r>
              <a:rPr b="1" i="0" sz="1200">
                <a:solidFill>
                  <a:srgbClr val="14532D"/>
                </a:solidFill>
              </a:rPr>
              <a:t>Rule of thumb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82880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l"/>
            <a:r>
              <a:rPr b="1" i="0" sz="2000">
                <a:solidFill>
                  <a:srgbClr val="15803D"/>
                </a:solidFill>
              </a:rPr>
              <a:t>~70%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139696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l"/>
            <a:r>
              <a:rPr b="0" i="0" sz="1000">
                <a:solidFill>
                  <a:srgbClr val="5B6B7C"/>
                </a:solidFill>
              </a:rPr>
              <a:t>Unit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441448"/>
            <a:ext cx="1965960" cy="1828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75120" y="251460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l"/>
            <a:r>
              <a:rPr b="1" i="0" sz="2000">
                <a:solidFill>
                  <a:srgbClr val="15803D"/>
                </a:solidFill>
              </a:rPr>
              <a:t>~20%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825496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l"/>
            <a:r>
              <a:rPr b="0" i="0" sz="1000">
                <a:solidFill>
                  <a:srgbClr val="5B6B7C"/>
                </a:solidFill>
              </a:rPr>
              <a:t>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127248"/>
            <a:ext cx="1965960" cy="1828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75120" y="320040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l"/>
            <a:r>
              <a:rPr b="1" i="0" sz="2000">
                <a:solidFill>
                  <a:srgbClr val="15803D"/>
                </a:solidFill>
              </a:rPr>
              <a:t>~10%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511296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l"/>
            <a:r>
              <a:rPr b="0" i="0" sz="1000">
                <a:solidFill>
                  <a:srgbClr val="5B6B7C"/>
                </a:solidFill>
              </a:rPr>
              <a:t>E2E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114800"/>
            <a:ext cx="21031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0" i="1" sz="900">
                <a:solidFill>
                  <a:srgbClr val="5B6B7C"/>
                </a:solidFill>
              </a:rPr>
              <a:t>A guide, not a law — adjust per project.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1: Unit Tests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fast, precise — the foundation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check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61848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function or class in isolation: logic, edge cases, error handling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3172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1945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they win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487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milliseconds; a red test points at the exact broken function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004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write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5584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with the code (or before it — TDD); never “later”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95935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069080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39319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“good” means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22452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behavior per test; readable name that says what broke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035040" y="1371600"/>
            <a:ext cx="2697480" cy="3246120"/>
          </a:xfrm>
          <a:prstGeom prst="roundRect">
            <a:avLst>
              <a:gd name="adj" fmla="val 2712"/>
            </a:avLst>
          </a:prstGeom>
          <a:solidFill>
            <a:srgbClr val="1E293B"/>
          </a:solidFill>
          <a:ln/>
        </p:spPr>
      </p:sp>
      <p:sp>
        <p:nvSpPr>
          <p:cNvPr id="21" name="Text 15"/>
          <p:cNvSpPr/>
          <p:nvPr/>
        </p:nvSpPr>
        <p:spPr>
          <a:xfrm>
            <a:off x="6263640" y="1572768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Arrange – Act – Assert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test('rejects expired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coupon', () =&gt;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 = coupon(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expired: true });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 = apply(c);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expect(r.ok)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.toBe(false);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2: Integration Tests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units meet — and where surprises live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check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61848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working together: your code + database, API + service, component + component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3172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19456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catch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48716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data shapes, broken contracts, misconfigured connections — bugs unit tests can’t see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004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6324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keep them honest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5584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realistic test data and real dependencies where practical (test containers over deep mocking)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95935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069080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393192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them scoped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22452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one integration at a time — not the whole system in one giant test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3: E2E — Powerful but Expensive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Few, focused, and only for what matters most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check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61848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user journeys through the real system: sign up → add to cart → pay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3172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1945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them for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487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flows only — the ones where failure costs money or trust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004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dark side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5584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(minutes), brittle (break on UI changes), expensive to maintain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397764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FEF2F2"/>
          </a:solidFill>
          <a:ln/>
        </p:spPr>
      </p:sp>
      <p:sp>
        <p:nvSpPr>
          <p:cNvPr id="17" name="Text 12"/>
          <p:cNvSpPr/>
          <p:nvPr/>
        </p:nvSpPr>
        <p:spPr>
          <a:xfrm>
            <a:off x="658368" y="4069080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repeat yourself upward: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 were already covered by unit tests below — don’t re-test them through the UI.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035040" y="1371600"/>
            <a:ext cx="2697480" cy="3383280"/>
          </a:xfrm>
          <a:prstGeom prst="roundRect">
            <a:avLst>
              <a:gd name="adj" fmla="val 2712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36208" y="15544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166420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812280" y="157276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Anti-pattern: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ice-cream cone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6263640" y="2331720"/>
            <a:ext cx="2240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E2E tests, few unit tests. Symptoms: nightly runs that take hours, constant flaky failures, feedback with a one-day delay — and nobody trusts the suite anymore.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Good Test Looks Like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F.I.R.S.T. — five checks for any test you write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5803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138074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Fast.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Milliseconds. Slow tests don’t get run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993392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5803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93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2048256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Isolated.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dependence on other tests or shared state; any order, same result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660904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5803D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609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271576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Repeatable.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outcome every run — locally, in CI, at 3 a.m.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328416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5803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28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80160" y="33832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Self-validating.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or fail on its own; no human reading logs to decide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995928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5803D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995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80160" y="405079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Timely.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with the code, while you still remember the edge cases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Test (and What to Skip)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behavior, not implementation — prioritize by risk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0FDF4"/>
          </a:solidFill>
          <a:ln w="12700">
            <a:solidFill>
              <a:srgbClr val="D7EB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36192"/>
            <a:ext cx="411480" cy="4114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" y="1634947"/>
            <a:ext cx="213970" cy="21397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5910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testing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057400"/>
            <a:ext cx="3611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logic: money, permissions, calculations</a:t>
            </a:r>
            <a:endParaRPr lang="en-US" sz="11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cases: empty, null, zero, huge, negative, duplicates</a:t>
            </a:r>
            <a:endParaRPr lang="en-US" sz="11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paths: what happens when things fail</a:t>
            </a:r>
            <a:endParaRPr lang="en-US" sz="11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bug you fix → a regression test first</a:t>
            </a:r>
            <a:endParaRPr lang="en-US" sz="1150" dirty="0"/>
          </a:p>
          <a:p>
            <a:pPr marL="101600" indent="-1016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behavior of a module (its contract)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137160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10328" y="1536192"/>
            <a:ext cx="411480" cy="4114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083" y="1634947"/>
            <a:ext cx="213970" cy="21397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5910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value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937760" y="2057400"/>
            <a:ext cx="3611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internals &amp; implementation details — refactoring shouldn’t break tests</a:t>
            </a:r>
            <a:endParaRPr lang="en-US" sz="11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 code: getters, setters, framework glue</a:t>
            </a:r>
            <a:endParaRPr lang="en-US" sz="115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libraries (they have their own tests)</a:t>
            </a:r>
            <a:endParaRPr lang="en-US" sz="1150" dirty="0"/>
          </a:p>
          <a:p>
            <a:pPr marL="101600" indent="-1016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100% coverage — coverage is a flashlight, not a goal; 100% covered ≠ correct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Flaky Tests: The Trust Killers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that fails randomly is worse than no test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they’re dangerous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61848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team starts re-running “until green”, real failures get ignored too — the whole suite loses its meaning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3172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19456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 suspects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48716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Sleeps and timing assumptions, shared state between tests, real network calls, test-order dependence, “time now” in logic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004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6324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5584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 flaky tests immediately, fix or delete within days — never let them rot in the pipeline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95935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069080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393192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22452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timers, isolated fixtures, deterministic data, no hidden globals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in the Pipeline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feedback first — every stage buys more confidence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65960" cy="2331720"/>
          </a:xfrm>
          <a:prstGeom prst="roundRect">
            <a:avLst>
              <a:gd name="adj" fmla="val 4651"/>
            </a:avLst>
          </a:prstGeom>
          <a:solidFill>
            <a:srgbClr val="F0FDF4"/>
          </a:solidFill>
          <a:ln w="12700">
            <a:solidFill>
              <a:srgbClr val="D7EB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70992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1792" y="2194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save / commit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21792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Linters, static analysis, unit tests — seconds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34086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96896" y="1417320"/>
            <a:ext cx="1965960" cy="2331720"/>
          </a:xfrm>
          <a:prstGeom prst="roundRect">
            <a:avLst>
              <a:gd name="adj" fmla="val 4651"/>
            </a:avLst>
          </a:prstGeom>
          <a:solidFill>
            <a:srgbClr val="F0FDF4"/>
          </a:solidFill>
          <a:ln w="12700">
            <a:solidFill>
              <a:srgbClr val="D7EBD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79776" y="16002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9504" y="170992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761488" y="2194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push / PR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761488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+ integration tests, coverage check — minutes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48056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4736592" y="1417320"/>
            <a:ext cx="1965960" cy="2331720"/>
          </a:xfrm>
          <a:prstGeom prst="roundRect">
            <a:avLst>
              <a:gd name="adj" fmla="val 4651"/>
            </a:avLst>
          </a:prstGeom>
          <a:solidFill>
            <a:srgbClr val="F0FDF4"/>
          </a:solidFill>
          <a:ln w="12700">
            <a:solidFill>
              <a:srgbClr val="D7EBD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19472" y="16002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709928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901184" y="2194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deploy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901184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on critical flows, smoke tests — tens of minutes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62025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6876288" y="1417320"/>
            <a:ext cx="1965960" cy="2331720"/>
          </a:xfrm>
          <a:prstGeom prst="roundRect">
            <a:avLst>
              <a:gd name="adj" fmla="val 4651"/>
            </a:avLst>
          </a:prstGeom>
          <a:solidFill>
            <a:srgbClr val="F0FDF4"/>
          </a:solidFill>
          <a:ln w="12700">
            <a:solidFill>
              <a:srgbClr val="D7EBDD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059168" y="16002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8896" y="1709928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40880" y="2194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deploy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704088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alerts — because no suite catches everything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57200" y="4023360"/>
            <a:ext cx="8275320" cy="73152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685800" y="4133088"/>
            <a:ext cx="7818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metric: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until a developer learns they broke something? Aim for seconds locally, minutes in CI — a red build is fixed before context is lost.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in the AI Era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writes more of the code — testing matters more, not less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failure mode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618488"/>
            <a:ext cx="7452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code passes unit tests at human rates — but fails more often at integration and user-flow level. Green units, real incidents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231136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40864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203704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pyramid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496312"/>
            <a:ext cx="7452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heavy on AI codegen see better results shifting toward ~60/25/15 (unit/integration/E2E) instead of the classic 70/20/10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108960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81528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AI tests too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74136"/>
            <a:ext cx="7452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draft tests fast — but humans must own the acceptance criteria, or tests just confirm wrong behavior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986784"/>
            <a:ext cx="457200" cy="45720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096512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3959352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 E2E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251960"/>
            <a:ext cx="7452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E2E tools reduce brittleness with intent-based selectors — worth evaluating for UI-heavy suites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Habits That Make It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testing is routine, not heroics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35608"/>
            <a:ext cx="365760" cy="36576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702" y="1523390"/>
            <a:ext cx="190195" cy="19019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3272" y="141732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test with the code — same PR, no exceptions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02920" y="2258568"/>
            <a:ext cx="365760" cy="36576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2346350"/>
            <a:ext cx="190195" cy="19019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33272" y="224028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every bug with a failing test before fixing it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02920" y="3081528"/>
            <a:ext cx="365760" cy="36576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02" y="3169310"/>
            <a:ext cx="190195" cy="19019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33272" y="30632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tests as sentences: “rejects expired coupon”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02920" y="3904488"/>
            <a:ext cx="365760" cy="36576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" y="3992270"/>
            <a:ext cx="190195" cy="19019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33272" y="38862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test code as clean as production code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4709160" y="1435608"/>
            <a:ext cx="365760" cy="36576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6942" y="1523390"/>
            <a:ext cx="190195" cy="19019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239512" y="141732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fast suite locally before pushing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4709160" y="2258568"/>
            <a:ext cx="365760" cy="36576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6942" y="2346350"/>
            <a:ext cx="190195" cy="190195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39512" y="224028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merge on red; never comment out a failing test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4709160" y="3081528"/>
            <a:ext cx="365760" cy="36576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6942" y="3169310"/>
            <a:ext cx="190195" cy="190195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5239512" y="30632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flaky tests as P1 bugs of the test suite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4709160" y="3904488"/>
            <a:ext cx="365760" cy="36576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6942" y="3992270"/>
            <a:ext cx="190195" cy="190195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239512" y="38862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review, read the tests first — they tell you what the code claims to do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3108960"/>
            <a:ext cx="3840480" cy="3840480"/>
          </a:xfrm>
          <a:prstGeom prst="ellipse">
            <a:avLst/>
          </a:prstGeom>
          <a:solidFill>
            <a:srgbClr val="15803D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389888"/>
            <a:ext cx="384048" cy="384048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82060"/>
            <a:ext cx="199705" cy="1997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0F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bugs at the cheapest stage: a minute at your desk beats a week in production.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94360" y="2039112"/>
            <a:ext cx="384048" cy="384048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32" y="2131284"/>
            <a:ext cx="199705" cy="19970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20208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0F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pyramid: lots of fast unit tests, some integration, a few E2E on critical flows.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594360" y="2688336"/>
            <a:ext cx="384048" cy="384048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32" y="2780508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88720" y="267004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0F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tests that are FIRST — fast, isolated, repeatable, self-validating, timely.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594360" y="3337560"/>
            <a:ext cx="384048" cy="384048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32" y="3429732"/>
            <a:ext cx="199705" cy="19970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88720" y="331927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0F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behavior and risk, not implementation details or coverage numbers.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594360" y="3986784"/>
            <a:ext cx="384048" cy="384048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532" y="4078956"/>
            <a:ext cx="199705" cy="19970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88720" y="396849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0F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the suite’s trust: fix flaky tests fast, never merge on red.</a:t>
            </a:r>
            <a:endParaRPr lang="en-US" sz="1450" dirty="0"/>
          </a:p>
        </p:txBody>
      </p:sp>
      <p:sp>
        <p:nvSpPr>
          <p:cNvPr id="19" name="Text 12"/>
          <p:cNvSpPr/>
          <p:nvPr/>
        </p:nvSpPr>
        <p:spPr>
          <a:xfrm>
            <a:off x="594360" y="468172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6C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suite you trust is what turns “deploy on Friday” from a joke into a habit.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Effective Developer Testing</dc:title>
  <dc:subject>PptxGenJS Presentation</dc:subject>
  <dc:creator>Vasyl</dc:creator>
  <cp:lastModifiedBy>Vasyl</cp:lastModifiedBy>
  <cp:revision>1</cp:revision>
  <dcterms:created xsi:type="dcterms:W3CDTF">2026-07-02T13:41:42Z</dcterms:created>
  <dcterms:modified xsi:type="dcterms:W3CDTF">2026-07-02T13:41:42Z</dcterms:modified>
</cp:coreProperties>
</file>