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Cold start, ms</c:v>
                </c:pt>
              </c:strCache>
            </c:strRef>
          </c:tx>
          <c:spPr>
            <a:solidFill>
              <a:srgbClr val="FF6E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2F6F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6E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C45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DD4E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ts-node</c:v>
                  </c:pt>
                  <c:pt idx="1">
                    <c:v>tsx</c:v>
                  </c:pt>
                  <c:pt idx="2">
                    <c:v>swc loader</c:v>
                  </c:pt>
                  <c:pt idx="3">
                    <c:v>node --strip-types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1400</c:v>
                </c:pt>
                <c:pt idx="1">
                  <c:v>480</c:v>
                </c:pt>
                <c:pt idx="2">
                  <c:v>350</c:v>
                </c:pt>
                <c:pt idx="3">
                  <c:v>160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2F6F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2F6F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0"/>
        </c:scaling>
        <c:delete val="0"/>
        <c:axPos val="b"/>
        <c:majorGridlines>
          <c:spPr>
            <a:ln w="6350" cap="flat">
              <a:solidFill>
                <a:srgbClr val="2336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A2B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E1A2B"/>
        </a:solidFill>
        <a:ln>
          <a:noFill/>
        </a:ln>
        <a:effectLst/>
      </c:spPr>
    </c:plotArea>
    <c:plotVisOnly val="1"/>
    <c:dispBlanksAs val="span"/>
  </c:chart>
  <c:spPr>
    <a:solidFill>
      <a:srgbClr val="0E1A2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8DA2BC"/>
                </a:solidFill>
                <a:latin typeface="Arial"/>
              </a:defRPr>
            </a:pPr>
            <a:r>
              <a:rPr sz="1100" b="0" i="0" u="none" strike="noStrike">
                <a:solidFill>
                  <a:srgbClr val="8DA2BC"/>
                </a:solidFill>
                <a:latin typeface="Arial"/>
              </a:rPr>
              <a:t>Cold install: 32 s → 1.2 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Package install, s (monorepo, 847 packages)</c:v>
                </c:pt>
              </c:strCache>
            </c:strRef>
          </c:tx>
          <c:spPr>
            <a:solidFill>
              <a:srgbClr val="FF6E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2F6F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6E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D4E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npm</c:v>
                  </c:pt>
                  <c:pt idx="1">
                    <c:v>bun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1.2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2F6F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2F6F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"/>
        </c:scaling>
        <c:delete val="0"/>
        <c:axPos val="b"/>
        <c:majorGridlines>
          <c:spPr>
            <a:ln w="6350" cap="flat">
              <a:solidFill>
                <a:srgbClr val="2336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A2B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E1A2B"/>
        </a:solidFill>
        <a:ln>
          <a:noFill/>
        </a:ln>
        <a:effectLst/>
      </c:spPr>
    </c:plotArea>
    <c:plotVisOnly val="1"/>
    <c:dispBlanksAs val="span"/>
  </c:chart>
  <c:spPr>
    <a:solidFill>
      <a:srgbClr val="0E1A2B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0" b="1" dirty="0">
                <a:solidFill>
                  <a:srgbClr val="15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7000" dirty="0"/>
          </a:p>
        </p:txBody>
      </p:sp>
      <p:sp>
        <p:nvSpPr>
          <p:cNvPr id="3" name="Text 1"/>
          <p:cNvSpPr/>
          <p:nvPr/>
        </p:nvSpPr>
        <p:spPr>
          <a:xfrm>
            <a:off x="594360" y="2194560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Approaches in JS Development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12648" y="3200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 in the JavaScript ecosystem — and what our team should do about it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2648" y="3977640"/>
            <a:ext cx="1280160" cy="384048"/>
          </a:xfrm>
          <a:prstGeom prst="roundRect">
            <a:avLst>
              <a:gd name="adj" fmla="val 47619"/>
            </a:avLst>
          </a:prstGeom>
          <a:solidFill>
            <a:srgbClr val="15263D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39776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57400" y="3977640"/>
            <a:ext cx="896112" cy="384048"/>
          </a:xfrm>
          <a:prstGeom prst="roundRect">
            <a:avLst>
              <a:gd name="adj" fmla="val 47619"/>
            </a:avLst>
          </a:prstGeom>
          <a:solidFill>
            <a:srgbClr val="15263D"/>
          </a:solidFill>
          <a:ln/>
        </p:spPr>
      </p:sp>
      <p:sp>
        <p:nvSpPr>
          <p:cNvPr id="8" name="Text 6"/>
          <p:cNvSpPr/>
          <p:nvPr/>
        </p:nvSpPr>
        <p:spPr>
          <a:xfrm>
            <a:off x="2057400" y="3977640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18104" y="3977640"/>
            <a:ext cx="1184148" cy="384048"/>
          </a:xfrm>
          <a:prstGeom prst="roundRect">
            <a:avLst>
              <a:gd name="adj" fmla="val 47619"/>
            </a:avLst>
          </a:prstGeom>
          <a:solidFill>
            <a:srgbClr val="15263D"/>
          </a:solidFill>
          <a:ln/>
        </p:spPr>
      </p:sp>
      <p:sp>
        <p:nvSpPr>
          <p:cNvPr id="10" name="Text 8"/>
          <p:cNvSpPr/>
          <p:nvPr/>
        </p:nvSpPr>
        <p:spPr>
          <a:xfrm>
            <a:off x="3118104" y="3977640"/>
            <a:ext cx="11841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Toolchain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66844" y="3977640"/>
            <a:ext cx="1280160" cy="384048"/>
          </a:xfrm>
          <a:prstGeom prst="roundRect">
            <a:avLst>
              <a:gd name="adj" fmla="val 47619"/>
            </a:avLst>
          </a:prstGeom>
          <a:solidFill>
            <a:srgbClr val="15263D"/>
          </a:solidFill>
          <a:ln/>
        </p:spPr>
      </p:sp>
      <p:sp>
        <p:nvSpPr>
          <p:cNvPr id="12" name="Text 10"/>
          <p:cNvSpPr/>
          <p:nvPr/>
        </p:nvSpPr>
        <p:spPr>
          <a:xfrm>
            <a:off x="4466844" y="39776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11596" y="3977640"/>
            <a:ext cx="512064" cy="384048"/>
          </a:xfrm>
          <a:prstGeom prst="roundRect">
            <a:avLst>
              <a:gd name="adj" fmla="val 47619"/>
            </a:avLst>
          </a:prstGeom>
          <a:solidFill>
            <a:srgbClr val="15263D"/>
          </a:solidFill>
          <a:ln/>
        </p:spPr>
      </p:sp>
      <p:sp>
        <p:nvSpPr>
          <p:cNvPr id="14" name="Text 12"/>
          <p:cNvSpPr/>
          <p:nvPr/>
        </p:nvSpPr>
        <p:spPr>
          <a:xfrm>
            <a:off x="5911596" y="3977640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8252" y="3977640"/>
            <a:ext cx="1088136" cy="384048"/>
          </a:xfrm>
          <a:prstGeom prst="roundRect">
            <a:avLst>
              <a:gd name="adj" fmla="val 47619"/>
            </a:avLst>
          </a:prstGeom>
          <a:solidFill>
            <a:srgbClr val="15263D"/>
          </a:solidFill>
          <a:ln/>
        </p:spPr>
      </p:sp>
      <p:sp>
        <p:nvSpPr>
          <p:cNvPr id="16" name="Text 14"/>
          <p:cNvSpPr/>
          <p:nvPr/>
        </p:nvSpPr>
        <p:spPr>
          <a:xfrm>
            <a:off x="6588252" y="3977640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" y="4617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team talk  · 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cover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30759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68880" y="11430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D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40080" y="1783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TypeScript Era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21488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24 runs .ts natively; TS 7 rewritten in Go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55848" y="100584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38728" y="1188720"/>
            <a:ext cx="457200" cy="457200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30759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67528" y="11430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5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3538728" y="1783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ES2026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38728" y="21488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Temporal, import defer, new language APIs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54496" y="100584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37376" y="1188720"/>
            <a:ext cx="457200" cy="457200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1307592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66176" y="11430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6437376" y="1783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Toolchain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437376" y="21488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Vite, Bun, Biome — a new generation of tools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57200" y="292608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2278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468880" y="30632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</a:t>
            </a:r>
            <a:endParaRPr lang="en-US" sz="2200" dirty="0"/>
          </a:p>
        </p:txBody>
      </p:sp>
      <p:sp>
        <p:nvSpPr>
          <p:cNvPr id="25" name="Text 19"/>
          <p:cNvSpPr/>
          <p:nvPr/>
        </p:nvSpPr>
        <p:spPr>
          <a:xfrm>
            <a:off x="640080" y="3703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640080" y="4069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RSC, Signals, resumability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3355848" y="292608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538728" y="3108960"/>
            <a:ext cx="457200" cy="457200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3227832"/>
            <a:ext cx="219456" cy="21945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367528" y="30632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D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2200" dirty="0"/>
          </a:p>
        </p:txBody>
      </p:sp>
      <p:sp>
        <p:nvSpPr>
          <p:cNvPr id="31" name="Text 24"/>
          <p:cNvSpPr/>
          <p:nvPr/>
        </p:nvSpPr>
        <p:spPr>
          <a:xfrm>
            <a:off x="3538728" y="3703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Security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3538728" y="4069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 AI-generated code; npm supply chain attacks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6254496" y="292608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437376" y="3108960"/>
            <a:ext cx="457200" cy="457200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48" y="3227832"/>
            <a:ext cx="219456" cy="219456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266176" y="30632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5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</a:t>
            </a:r>
            <a:endParaRPr lang="en-US" sz="2200" dirty="0"/>
          </a:p>
        </p:txBody>
      </p:sp>
      <p:sp>
        <p:nvSpPr>
          <p:cNvPr id="37" name="Text 29"/>
          <p:cNvSpPr/>
          <p:nvPr/>
        </p:nvSpPr>
        <p:spPr>
          <a:xfrm>
            <a:off x="6437376" y="3703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1500" dirty="0"/>
          </a:p>
        </p:txBody>
      </p:sp>
      <p:sp>
        <p:nvSpPr>
          <p:cNvPr id="38" name="Text 30"/>
          <p:cNvSpPr/>
          <p:nvPr/>
        </p:nvSpPr>
        <p:spPr>
          <a:xfrm>
            <a:off x="6437376" y="4069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Adopt, Trial, Watch — decisions for next quarter</a:t>
            </a:r>
            <a:endParaRPr lang="en-US" sz="1050" dirty="0"/>
          </a:p>
        </p:txBody>
      </p:sp>
      <p:sp>
        <p:nvSpPr>
          <p:cNvPr id="39" name="Text 31"/>
          <p:cNvSpPr/>
          <p:nvPr/>
        </p:nvSpPr>
        <p:spPr>
          <a:xfrm>
            <a:off x="854964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JS ecosystem in 2026 — by the numbers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1615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98.7%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all websites run JavaScript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55848" y="105156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38728" y="121615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~78%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538728" y="19659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projects are written in TypeScript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54496" y="105156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37376" y="121615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84M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37376" y="19659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npm downloads of Vite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09067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new code is generated by AI tools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55848" y="292608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538728" y="309067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3538728" y="38404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new React projects use Server Components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54496" y="292608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37376" y="309067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6437376" y="38404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— most active language on GitHub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736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D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State of TypeScript 2026, npm, GitHub Octoverse, industry reports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54964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7200" y="820000"/>
            <a:ext cx="82296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999999"/>
                </a:solidFill>
              </a:rPr>
              <a:t>The foundations changed — not just the libraries on top of them</a:t>
            </a:r>
          </a:p>
        </p:txBody>
        <a:spPr>
          <a:ln>
            <a:noFill/>
          </a:ln>
        </a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5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Shape 1"/>
          <p:cNvSpPr/>
          <p:nvPr/>
        </p:nvSpPr>
        <p:spPr>
          <a:xfrm>
            <a:off x="685800" y="2743200"/>
            <a:ext cx="640080" cy="640080"/>
          </a:xfrm>
          <a:prstGeom prst="ellipse">
            <a:avLst/>
          </a:prstGeom>
          <a:solidFill>
            <a:srgbClr val="15263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2909621"/>
            <a:ext cx="307238" cy="3072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260604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TypeScript Era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1527048" y="35204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 step is dying: runtimes learned to execute .ts directly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24: native TypeScript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stripping is enabled by default — node app.ts just works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3108960"/>
          </a:xfrm>
          <a:prstGeom prst="roundRect">
            <a:avLst>
              <a:gd name="adj" fmla="val 1765"/>
            </a:avLst>
          </a:prstGeom>
          <a:solidFill>
            <a:srgbClr val="0A142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389888"/>
            <a:ext cx="3694176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DA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Before: a mandatory build step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 -D typescript ts-node esbuild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tsc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dist/app.js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DA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Now (Node 24 LTS):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5C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app.ts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DA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watch mode without tsx/nodemon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5C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--watch src/index.ts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09160" y="1280160"/>
            <a:ext cx="3977640" cy="932688"/>
          </a:xfrm>
          <a:prstGeom prst="roundRect">
            <a:avLst>
              <a:gd name="adj" fmla="val 7843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92040" y="138988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dependencies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92040" y="16916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ts-node, tsx, esbuild are no longer needed for the dev loop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2377440"/>
            <a:ext cx="3977640" cy="932688"/>
          </a:xfrm>
          <a:prstGeom prst="roundRect">
            <a:avLst>
              <a:gd name="adj" fmla="val 7843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248716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path here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27889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22.7 → flag · Node 23 → unflagged · Node 24 → default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3474720"/>
            <a:ext cx="3977640" cy="932688"/>
          </a:xfrm>
          <a:prstGeom prst="roundRect">
            <a:avLst>
              <a:gd name="adj" fmla="val 7843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358444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compiler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38862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are stripped (SWC/amaro); type checking is NOT performed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54964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type stripping works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are replaced with whitespace — line numbers match, no source maps needed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write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023360" cy="2011680"/>
          </a:xfrm>
          <a:prstGeom prst="roundRect">
            <a:avLst>
              <a:gd name="adj" fmla="val 2727"/>
            </a:avLst>
          </a:prstGeom>
          <a:solidFill>
            <a:srgbClr val="0A142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1664208"/>
            <a:ext cx="369417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User {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number;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string;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greet(u: User): string {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`Hi, ${u.name}`;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663440" y="1234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V8 sees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554480"/>
            <a:ext cx="4023360" cy="2011680"/>
          </a:xfrm>
          <a:prstGeom prst="roundRect">
            <a:avLst>
              <a:gd name="adj" fmla="val 2727"/>
            </a:avLst>
          </a:prstGeom>
          <a:solidFill>
            <a:srgbClr val="0A142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28032" y="1664208"/>
            <a:ext cx="369417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DA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DA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DA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DA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greet(u      )         {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`Hi, ${u.name}`;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79476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" y="4023360"/>
            <a:ext cx="502920" cy="502920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127" y="4154119"/>
            <a:ext cx="241402" cy="24140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25880" y="393192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point: nobody checks types at runtime. </a:t>
            </a:r>
            <a:pPr indent="0" marL="0">
              <a:buNone/>
            </a:pPr>
            <a:r>
              <a:rPr lang="en-US" sz="120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add("hello", "world") will happily run. Type checking is a separate step: tsc --noEmit in CI or pre-commit.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54964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stripping: limitations you must know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58368" y="1033272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/ namespace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429000" y="1033272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Emit runtime code — need the separate transform mode. Recommendation: migrate enums to as const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810512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tsconfig.json is ignored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29000" y="1810512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paths, downleveling, decorators — none of it works. Node deliberately skips the config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" y="2587752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type is mandatory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2587752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type imported as a value won't be stripped and will crash at runtime. verbatimModuleSyntax helps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" y="3364992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JSX support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3364992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code still needs a bundler — this is a tool for backends, scripts and CLIs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06908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4142232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erasableSyntaxOnly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4142232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 5.8+ flag — the compiler itself forbids syntax incompatible with stripping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54964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care: cold start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Express server (~600 LoC), cold-start time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34440"/>
          <a:ext cx="52120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234440"/>
            <a:ext cx="2834640" cy="1024128"/>
          </a:xfrm>
          <a:prstGeom prst="roundRect">
            <a:avLst>
              <a:gd name="adj" fmla="val 7143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0" y="13258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~9x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035040" y="17099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between ts-node and native stripping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852160" y="2423160"/>
            <a:ext cx="2834640" cy="1024128"/>
          </a:xfrm>
          <a:prstGeom prst="roundRect">
            <a:avLst>
              <a:gd name="adj" fmla="val 7143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35040" y="25146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&lt;200 ms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035040" y="28986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1.4 s — critical for serverless, where every cold start is billed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852160" y="3611880"/>
            <a:ext cx="2834640" cy="1024128"/>
          </a:xfrm>
          <a:prstGeom prst="roundRect">
            <a:avLst>
              <a:gd name="adj" fmla="val 7143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035040" y="37033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Simpler CI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035040" y="40873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dev dependencies, lighter Docker images, cheaper Lambdas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54964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practical setup for our projects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937760" cy="2743200"/>
          </a:xfrm>
          <a:prstGeom prst="roundRect">
            <a:avLst>
              <a:gd name="adj" fmla="val 2000"/>
            </a:avLst>
          </a:prstGeom>
          <a:solidFill>
            <a:srgbClr val="0A142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21792" y="1069848"/>
            <a:ext cx="460857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DA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package.json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"scripts": {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5C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"dev":       "node --watch src/index.ts",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D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"typecheck": "tsc --noEmit",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"build":     "tsc"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tsconfig: erasableSyntaxOnly: true,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   verbatimModuleSyntax: true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577840" y="96012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42432" y="1088136"/>
            <a:ext cx="384048" cy="384048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2284" y="1187988"/>
            <a:ext cx="184343" cy="1843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63640" y="10881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&amp; scripts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42432" y="1472184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.ts directly — an instant edit → run loop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577840" y="2167128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42432" y="2295144"/>
            <a:ext cx="384048" cy="384048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284" y="2394996"/>
            <a:ext cx="184343" cy="18434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263640" y="22951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live in CI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742432" y="267919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tsc --noEmit as a mandatory pipeline gate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577840" y="3374136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742432" y="3502152"/>
            <a:ext cx="384048" cy="384048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284" y="3602004"/>
            <a:ext cx="184343" cy="18434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63640" y="35021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 build stays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742432" y="38862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packages and optimized production output — compile as before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457200" y="3977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and Fastify work with native stripping — zero changes required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54964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7 “Corsa”: rewritten in Go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biggest infrastructure change in TS history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984248" cy="1371600"/>
          </a:xfrm>
          <a:prstGeom prst="roundRect">
            <a:avLst>
              <a:gd name="adj" fmla="val 5333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371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9385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compilation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42032" y="1234440"/>
            <a:ext cx="1984248" cy="1371600"/>
          </a:xfrm>
          <a:prstGeom prst="roundRect">
            <a:avLst>
              <a:gd name="adj" fmla="val 5333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79192" y="1371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~8x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679192" y="19385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editor / LSP startup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26864" y="1234440"/>
            <a:ext cx="1984248" cy="1371600"/>
          </a:xfrm>
          <a:prstGeom prst="roundRect">
            <a:avLst>
              <a:gd name="adj" fmla="val 5333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64024" y="1371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64024" y="19385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consumption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11696" y="1234440"/>
            <a:ext cx="1984248" cy="1371600"/>
          </a:xfrm>
          <a:prstGeom prst="roundRect">
            <a:avLst>
              <a:gd name="adj" fmla="val 5333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48856" y="1371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848856" y="19385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expected this summer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8229600" cy="1779640"/>
          </a:xfrm>
          <a:prstGeom prst="roundRect">
            <a:avLst>
              <a:gd name="adj" fmla="val 4324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3035808"/>
            <a:ext cx="7772400" cy="1532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means for the team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 6.x is a transitional release on the old compiler: enable --deprecation and clean up legacy options (baseUrl, non-strict, ES5 targets)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tsc --noEmit will get so fast that the “skip type checking in dev” argument disappears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test it today: @typescript/native-preview in CI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4964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5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Shape 1"/>
          <p:cNvSpPr/>
          <p:nvPr/>
        </p:nvSpPr>
        <p:spPr>
          <a:xfrm>
            <a:off x="685800" y="2743200"/>
            <a:ext cx="640080" cy="640080"/>
          </a:xfrm>
          <a:prstGeom prst="ellipse">
            <a:avLst/>
          </a:prstGeom>
          <a:solidFill>
            <a:srgbClr val="15263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2909621"/>
            <a:ext cx="307238" cy="3072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260604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ES2026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1527048" y="35204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approved by TC39 in March 2026 — a year of big features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Temporal: Date finally retires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 — the headline feature of ES2026. Immutability, time zones and calendars built in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0" cy="3291840"/>
          </a:xfrm>
          <a:prstGeom prst="roundRect">
            <a:avLst>
              <a:gd name="adj" fmla="val 1667"/>
            </a:avLst>
          </a:prstGeom>
          <a:solidFill>
            <a:srgbClr val="0A142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344168"/>
            <a:ext cx="4700016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DA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Exact date-time in a time zone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meet = Temporal.ZonedDateTime.from(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5C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'2026-07-10T15:00[Europe/Kyiv]'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DA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Arithmetic without surprises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meet.add({ weeks: 2 });   // new object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DA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Difference between dates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d1 = Temporal.PlainDate.from('2026-01-01');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d1.until('2026-07-02').days; // 182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669280" y="1234440"/>
            <a:ext cx="3017520" cy="987552"/>
          </a:xfrm>
          <a:prstGeom prst="roundRect">
            <a:avLst>
              <a:gd name="adj" fmla="val 7407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52160" y="13441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852160" y="165506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operation returns a new object — goodbye, Date mutations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0" y="2386584"/>
            <a:ext cx="3017520" cy="987552"/>
          </a:xfrm>
          <a:prstGeom prst="roundRect">
            <a:avLst>
              <a:gd name="adj" fmla="val 7407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52160" y="24963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zones &amp; calendars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852160" y="28072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into the API — no moment / date-fns / luxon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0" y="3538728"/>
            <a:ext cx="3017520" cy="987552"/>
          </a:xfrm>
          <a:prstGeom prst="roundRect">
            <a:avLst>
              <a:gd name="adj" fmla="val 7407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364845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bundles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852160" y="39593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entire class of third-party date libraries goes away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54964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Quality-of-life wins: isError &amp; fromAsync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Error.isError()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69080" cy="2286000"/>
          </a:xfrm>
          <a:prstGeom prst="roundRect">
            <a:avLst>
              <a:gd name="adj" fmla="val 2400"/>
            </a:avLst>
          </a:prstGeom>
          <a:solidFill>
            <a:srgbClr val="0A142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298448"/>
            <a:ext cx="373989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real = new TypeError('bad');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fake = 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'TypeError',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[Symbol.toStringTag]: 'Error'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5C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Error.isError(real); // true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Error.isError(fake); // false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17720" y="868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Array.fromAsync()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17720" y="1188720"/>
            <a:ext cx="4069080" cy="2286000"/>
          </a:xfrm>
          <a:prstGeom prst="roundRect">
            <a:avLst>
              <a:gd name="adj" fmla="val 2400"/>
            </a:avLst>
          </a:prstGeom>
          <a:solidFill>
            <a:srgbClr val="0A142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82312" y="1298448"/>
            <a:ext cx="373989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DA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Before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out = [];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await (const v of stream) 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out.push(v);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DA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After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5C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out = await Array.fromAsync(stream);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703320"/>
            <a:ext cx="8229600" cy="1006680"/>
          </a:xfrm>
          <a:prstGeom prst="roundRect">
            <a:avLst>
              <a:gd name="adj" fmla="val 7273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3840480"/>
            <a:ext cx="7772400" cy="813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 </a:t>
            </a:r>
            <a:pPr indent="0" marL="0">
              <a:buNone/>
            </a:pPr>
            <a:r>
              <a:rPr lang="en-US" sz="120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 error checks across realms/iframes without instanceof traps, and reading async sources (streams, paginated APIs) in one line — exactly what we hand-write in every service today.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4964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defer: lazy module initialization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module executes only on the first access to its namespace — Stage 4, targeting ES2027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937760" cy="2377440"/>
          </a:xfrm>
          <a:prstGeom prst="roundRect">
            <a:avLst>
              <a:gd name="adj" fmla="val 2308"/>
            </a:avLst>
          </a:prstGeom>
          <a:solidFill>
            <a:srgbClr val="0A142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344168"/>
            <a:ext cx="460857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DA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module graph does NOT run eagerly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5C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defer * as analytics from './heavy';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onClick() {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DA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← first touch = module executes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analytics.track('click');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577840" y="123444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3624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large codebases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760720" y="170992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module graphs can cost hundreds of ms at startup — now we only pay for what we actually use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577840" y="2862072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60720" y="29900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import()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760720" y="33375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Synchronous access, no promise wrappers and no refactoring to async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4937760" cy="868680"/>
          </a:xfrm>
          <a:prstGeom prst="roundRect">
            <a:avLst>
              <a:gd name="adj" fmla="val 8421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" y="395020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import defer reached Stage 4 in March 2026 but missed the ES2026 snapshot — it targets ES2027. Browser implementations are landing now (Firefox ships it; Chrome in progress).</a:t>
            </a:r>
            <a:pPr indent="0" marL="0">
              <a:buNone/>
            </a:pPr>
            <a:r>
              <a:rPr lang="en-US" sz="11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text (Stage 3) is also coming — importing text files without custom loaders.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54964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Map.getOrInsert &amp; using: less boilerplate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Upsert for Map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69080" cy="2194560"/>
          </a:xfrm>
          <a:prstGeom prst="roundRect">
            <a:avLst>
              <a:gd name="adj" fmla="val 2500"/>
            </a:avLst>
          </a:prstGeom>
          <a:solidFill>
            <a:srgbClr val="0A142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298448"/>
            <a:ext cx="3739896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DA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Before: 2-3 lookups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(!map.has(key)) 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map.set(key, defaultVal);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v = map.get(key);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DA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After: one call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5C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v = map.getOrInsert(key, defaultVal);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617720" y="868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Resource Management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17720" y="1188720"/>
            <a:ext cx="4069080" cy="2194560"/>
          </a:xfrm>
          <a:prstGeom prst="roundRect">
            <a:avLst>
              <a:gd name="adj" fmla="val 2500"/>
            </a:avLst>
          </a:prstGeom>
          <a:solidFill>
            <a:srgbClr val="0A142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82312" y="1298448"/>
            <a:ext cx="3739896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job() 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5C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using conn = await db.connect();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conn.query('...');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DA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// ← conn[Symbol.dispose]()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DA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//   is called automatically,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DA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//   even after a throw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61188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3886200"/>
            <a:ext cx="502920" cy="502920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127" y="4016959"/>
            <a:ext cx="241402" cy="24140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25880" y="374904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already works in Chrome, Node, Deno; supported by Babel and TypeScript. </a:t>
            </a:r>
            <a:pPr indent="0" marL="0">
              <a:buNone/>
            </a:pPr>
            <a:r>
              <a:rPr lang="en-US" sz="1200" dirty="0">
                <a:solidFill>
                  <a:srgbClr val="8D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resource cleanup (connections, files, locks) — a whole class of leaks disappears from code review.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54964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5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0" dirty="0"/>
          </a:p>
        </p:txBody>
      </p:sp>
      <p:sp>
        <p:nvSpPr>
          <p:cNvPr id="3" name="Shape 1"/>
          <p:cNvSpPr/>
          <p:nvPr/>
        </p:nvSpPr>
        <p:spPr>
          <a:xfrm>
            <a:off x="685800" y="2743200"/>
            <a:ext cx="640080" cy="640080"/>
          </a:xfrm>
          <a:prstGeom prst="ellipse">
            <a:avLst/>
          </a:prstGeom>
          <a:solidFill>
            <a:srgbClr val="15263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2909621"/>
            <a:ext cx="307238" cy="3072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260604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Toolchain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1527048" y="35204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and Go are eating JS tooling: Vite, Bun, Biome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— the de facto standard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43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130M+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1907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downloads (post Cloudflare acquisition, June 2026)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36976" y="1005840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19856" y="1143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419856" y="171907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satisfaction (Webpack: 26%)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16752" y="1005840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99632" y="1143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 days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199632" y="171907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migration of a standard project off Webpack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8229600" cy="2012520"/>
          </a:xfrm>
          <a:prstGeom prst="roundRect">
            <a:avLst>
              <a:gd name="adj" fmla="val 3810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2852928"/>
            <a:ext cx="7772400" cy="1801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happening around it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React, Vue, Svelte and even Shopify default to Vite — the ecosystem is consolidating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8 moves to Rolldown — a Rust bundler that unifies dev and prod into one pipeline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acquired VoidZero (the company behind Vite) — the tool gained corporate backing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reason to stay on Webpack: plugins that haven't been ported yet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4964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Bun: the runtime Anthropic bought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Acquired in December 2025 → 960K lines rewritten from Zig to Rust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34440"/>
          <a:ext cx="42062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892040" y="1234440"/>
            <a:ext cx="3794760" cy="932688"/>
          </a:xfrm>
          <a:prstGeom prst="roundRect">
            <a:avLst>
              <a:gd name="adj" fmla="val 7843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74920" y="1325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1.52M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583680" y="132588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downloads; 92K GitHub stars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892040" y="2331720"/>
            <a:ext cx="3794760" cy="932688"/>
          </a:xfrm>
          <a:prstGeom prst="roundRect">
            <a:avLst>
              <a:gd name="adj" fmla="val 7843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74920" y="24231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583680" y="242316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JS devs have already run Bun in production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892040" y="3429000"/>
            <a:ext cx="3794760" cy="932688"/>
          </a:xfrm>
          <a:prstGeom prst="roundRect">
            <a:avLst>
              <a:gd name="adj" fmla="val 7843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074920" y="35204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prod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583680" y="352044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Figma, NYT, Slack, Intercom, Cursor, Claude Code, X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57200" y="38862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85800" y="3986784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take: </a:t>
            </a:r>
            <a:pPr indent="0" marL="0">
              <a:buNone/>
            </a:pPr>
            <a:r>
              <a:rPr lang="en-US" sz="11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production-ready for small and mid-sized services; as a package manager and test runner — try it now, as the main runtime — pilot it on a non-critical service.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54964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Biome: replacing ESLint + Prettier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79192" cy="1463040"/>
          </a:xfrm>
          <a:prstGeom prst="roundRect">
            <a:avLst>
              <a:gd name="adj" fmla="val 5000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43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56x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than ESLint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36976" y="1005840"/>
            <a:ext cx="2679192" cy="1463040"/>
          </a:xfrm>
          <a:prstGeom prst="roundRect">
            <a:avLst>
              <a:gd name="adj" fmla="val 5000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19856" y="1143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2-in-1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419856" y="1737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linter + formatter in a single Rust binary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16752" y="1005840"/>
            <a:ext cx="2679192" cy="1463040"/>
          </a:xfrm>
          <a:prstGeom prst="roundRect">
            <a:avLst>
              <a:gd name="adj" fmla="val 5000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99632" y="1143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Type-aware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199632" y="1737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rules without running the TS compiler (Biome v2)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4937760" cy="1874520"/>
          </a:xfrm>
          <a:prstGeom prst="roundRect">
            <a:avLst>
              <a:gd name="adj" fmla="val 2927"/>
            </a:avLst>
          </a:prstGeom>
          <a:solidFill>
            <a:srgbClr val="0A142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" y="2852928"/>
            <a:ext cx="4608576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DA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 dependency instead of a dozen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 -D @biomejs/biome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5C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biome check --write .   # lint+format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5C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biome migrate eslint    # auto-migrate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5C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biome migrate prettier  # configs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2743200"/>
            <a:ext cx="3108960" cy="1874520"/>
          </a:xfrm>
          <a:prstGeom prst="roundRect">
            <a:avLst>
              <a:gd name="adj" fmla="val 3902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60720" y="2898648"/>
            <a:ext cx="2743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D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Pre-commit and CI lint drop from minutes to seconds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configs and plugins — a smaller supply-chain attack surface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4964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5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0" dirty="0"/>
          </a:p>
        </p:txBody>
      </p:sp>
      <p:sp>
        <p:nvSpPr>
          <p:cNvPr id="3" name="Shape 1"/>
          <p:cNvSpPr/>
          <p:nvPr/>
        </p:nvSpPr>
        <p:spPr>
          <a:xfrm>
            <a:off x="685800" y="2743200"/>
            <a:ext cx="640080" cy="640080"/>
          </a:xfrm>
          <a:prstGeom prst="ellipse">
            <a:avLst/>
          </a:prstGeom>
          <a:solidFill>
            <a:srgbClr val="15263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2909621"/>
            <a:ext cx="307238" cy="3072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260604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1527048" y="35204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Server-first, fine-grained reactivity and the end of heavy hydration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 are converging on four ideas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1207008"/>
            <a:ext cx="502920" cy="502920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127" y="1337767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26187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Fine-grained reactivity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85800" y="18745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instead of virtual DOM diffing: only what changed gets updated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00584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64608" y="1207008"/>
            <a:ext cx="502920" cy="502920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5367" y="1337767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32120" y="126187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Server-first rendering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892040" y="18745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RSC, SSR streaming, edge: less JS shipped to the browser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57200" y="292608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8368" y="3127248"/>
            <a:ext cx="502920" cy="502920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27" y="3258007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318211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Compiler-driven optimization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685800" y="37947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Compiler, Vue Vapor, Svelte: work moves to build time, TypeScript as the baseline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663440" y="292608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864608" y="3127248"/>
            <a:ext cx="502920" cy="502920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5367" y="3258007"/>
            <a:ext cx="241402" cy="24140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32120" y="318211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workflows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4892040" y="37947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 simplify abstractions so code generators work more reliably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D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choice is now about team fit and trade-offs, not raw capability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854964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19: Compiler + Server Components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984248" cy="1508760"/>
          </a:xfrm>
          <a:prstGeom prst="roundRect">
            <a:avLst>
              <a:gd name="adj" fmla="val 4848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1430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25-40%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7373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wasted re-renders thanks to the React Compiler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542032" y="1005840"/>
            <a:ext cx="1984248" cy="1508760"/>
          </a:xfrm>
          <a:prstGeom prst="roundRect">
            <a:avLst>
              <a:gd name="adj" fmla="val 4848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79192" y="11430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2.4s → 0.8s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679192" y="17373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render with Server Components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26864" y="1005840"/>
            <a:ext cx="1984248" cy="1508760"/>
          </a:xfrm>
          <a:prstGeom prst="roundRect">
            <a:avLst>
              <a:gd name="adj" fmla="val 4848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64024" y="11430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64024" y="17373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new React projects start on RSC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711696" y="1005840"/>
            <a:ext cx="1984248" cy="1508760"/>
          </a:xfrm>
          <a:prstGeom prst="roundRect">
            <a:avLst>
              <a:gd name="adj" fmla="val 4848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48856" y="11430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-67%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848856" y="17373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render time in a server-first setup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292608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D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Compiler removes manual useMemo/useCallback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client-side bundle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RSC is React's default path forward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278892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64608" y="292608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 / risks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API incompatibility on the server side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the server/client boundary is painful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lock-in risk (alternatives: TanStack Start, React Router v7)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4964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become the standard (beyond React)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58368" y="10515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21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514600" y="1051560"/>
            <a:ext cx="5989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+ zoneless change detection: bundles ~18% lighter; large-codebase migration is multi-sprint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9659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3.6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14600" y="1965960"/>
            <a:ext cx="5989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Vapor Mode: compilation without a virtual DOM, extreme mount speed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" y="28803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Svelte 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14600" y="2880360"/>
            <a:ext cx="5989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Runes ($state, $derived): explicit reactivity instead of $: magic — an official codemod exists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" y="37947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SolidJS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14600" y="3794760"/>
            <a:ext cx="5989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reference for fine-grained reactivity; paired with Astro islands — minimal client JS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D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TC39 Signals is a separate proposal: reactivity may become part of the language itself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54964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 of heavy hydration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era of SPAs downloading megabytes of JS before the first click is over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79192" cy="2743200"/>
          </a:xfrm>
          <a:prstGeom prst="roundRect">
            <a:avLst>
              <a:gd name="adj" fmla="val 2730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hydration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JS is downloaded up front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page is “dead” until components wake up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Bloated bundle = poor INP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36976" y="1234440"/>
            <a:ext cx="2679192" cy="2743200"/>
          </a:xfrm>
          <a:prstGeom prst="roundRect">
            <a:avLst>
              <a:gd name="adj" fmla="val 2730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19856" y="1371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Fine-grained / Islands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19856" y="182880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islands are interactive (Astro)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 loads per specific component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for content-heavy sites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16752" y="1234440"/>
            <a:ext cx="2679192" cy="2743200"/>
          </a:xfrm>
          <a:prstGeom prst="roundRect">
            <a:avLst>
              <a:gd name="adj" fmla="val 2730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99632" y="1371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Resumability (Qwik)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99632" y="182880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JS execution at startup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is fetched at the moment of interaction (click)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page is usable right after the HTML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42793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business impact: </a:t>
            </a:r>
            <a:pPr indent="0" marL="0">
              <a:buNone/>
            </a:pPr>
            <a:r>
              <a:rPr lang="en-US" sz="11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JS → better INP (the new Core Web Vital) → better SEO and retention.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54964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5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0" dirty="0"/>
          </a:p>
        </p:txBody>
      </p:sp>
      <p:sp>
        <p:nvSpPr>
          <p:cNvPr id="3" name="Shape 1"/>
          <p:cNvSpPr/>
          <p:nvPr/>
        </p:nvSpPr>
        <p:spPr>
          <a:xfrm>
            <a:off x="685800" y="2743200"/>
            <a:ext cx="640080" cy="640080"/>
          </a:xfrm>
          <a:prstGeom prst="ellipse">
            <a:avLst/>
          </a:prstGeom>
          <a:solidFill>
            <a:srgbClr val="15263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2909621"/>
            <a:ext cx="307238" cy="3072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260604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Security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1527048" y="35204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Machines write half the code — and the attack surface grows with it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the workflow — no longer optional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79192" cy="1463040"/>
          </a:xfrm>
          <a:prstGeom prst="roundRect">
            <a:avLst>
              <a:gd name="adj" fmla="val 5000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43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new code is generated by AI tools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36976" y="1005840"/>
            <a:ext cx="2679192" cy="1463040"/>
          </a:xfrm>
          <a:prstGeom prst="roundRect">
            <a:avLst>
              <a:gd name="adj" fmla="val 5000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19856" y="1143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419856" y="1737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Copilot, Claude Code, v0 — scaffolding, tests, routine work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16752" y="1005840"/>
            <a:ext cx="2679192" cy="1463040"/>
          </a:xfrm>
          <a:prstGeom prst="roundRect">
            <a:avLst>
              <a:gd name="adj" fmla="val 5000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99632" y="1143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AI-first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199632" y="1737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Remix and others simplify abstractions for code generation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8229600" cy="1966800"/>
          </a:xfrm>
          <a:prstGeom prst="roundRect">
            <a:avLst>
              <a:gd name="adj" fmla="val 3902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2898648"/>
            <a:ext cx="7772400" cy="175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D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rules for the team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is mandatory: types give AI (and humans) a clear picture of the codebase — fewer hallucinations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speeds up writing but doesn't replace architecture or code review — responsibility stays with the PR author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code goes through the same gates: typecheck, lint (Biome), tests, review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4964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 the year npm got scary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1216152"/>
            <a:ext cx="502920" cy="502920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127" y="1346911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53312" y="108813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React2Shell (CVE-2025-55182)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353312" y="143560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RCE in Next.js rated CVSS 10.0 — a critical serialization vulnerability that forced a rethink of full-stack JS security models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2130552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" y="2386584"/>
            <a:ext cx="502920" cy="502920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27" y="2517343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53312" y="22585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attacks on npm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353312" y="260604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Waves of automated package compromises in 2025-2026 (Shai-Hulud and similar worms)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57200" y="3300984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8368" y="3557016"/>
            <a:ext cx="502920" cy="502920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27" y="3687775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53312" y="34290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zero-dependency trend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353312" y="3776472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language APIs (Temporal, fromAsync, using) replace lodash/moment — fewer dependencies, smaller attack surface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57200" y="448056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685800" y="45262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minimum: lockfile audit in CI, pinned versions, no postponing Next.js/framework updates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854964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Takeaways: adopt / trial / watch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79192" cy="3520440"/>
          </a:xfrm>
          <a:prstGeom prst="roundRect">
            <a:avLst>
              <a:gd name="adj" fmla="val 2730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704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 — start now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2331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--watch for dev &amp; scripts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tsc --noEmit as a CI gate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 instead of ESLint+Prettier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for new frontends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instead of date libraries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36976" y="1005840"/>
            <a:ext cx="2679192" cy="3520440"/>
          </a:xfrm>
          <a:prstGeom prst="roundRect">
            <a:avLst>
              <a:gd name="adj" fmla="val 2730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19856" y="11704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— pilot it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19856" y="1645920"/>
            <a:ext cx="2331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 as package manager / test runner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Server Components on a new project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erasableSyntaxOnly + enum migration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defer in large module graphs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16752" y="1005840"/>
            <a:ext cx="2679192" cy="3520440"/>
          </a:xfrm>
          <a:prstGeom prst="roundRect">
            <a:avLst>
              <a:gd name="adj" fmla="val 2730"/>
            </a:avLst>
          </a:prstGeom>
          <a:solidFill>
            <a:srgbClr val="15263D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99632" y="11704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— keep an eye 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99632" y="1645920"/>
            <a:ext cx="2331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7 “Corsa” (summer 2026)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TC39 Signals proposal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Qwik / resumability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8 + Rolldown</a:t>
            </a:r>
            <a:endParaRPr lang="en-US" sz="10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 as the main runtime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681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2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Let's decide what we pull into next quarter.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4964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 Approaches in JS Development — 2026</dc:title>
  <dc:subject>PptxGenJS Presentation</dc:subject>
  <dc:creator>Vasyl</dc:creator>
  <cp:lastModifiedBy>Vasyl</cp:lastModifiedBy>
  <cp:revision>1</cp:revision>
  <dcterms:created xsi:type="dcterms:W3CDTF">2026-07-02T10:19:18Z</dcterms:created>
  <dcterms:modified xsi:type="dcterms:W3CDTF">2026-07-02T10:19:18Z</dcterms:modified>
</cp:coreProperties>
</file>